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edc42f5-c615-190e-50c9-7d3e2436d78c}">
          <p14:sldIdLst>
            <p14:sldId id="256"/>
            <p14:sldId id="257"/>
            <p14:sldId id="258"/>
          </p14:sldIdLst>
        </p14:section>
        <p14:section name="How it decides" id="{e3039053-488d-42fb-a347-b333f6bcb12b}">
          <p14:sldIdLst>
            <p14:sldId id="259"/>
            <p14:sldId id="260"/>
          </p14:sldIdLst>
        </p14:section>
        <p14:section name="The layers" id="{fe3874c3-1dba-1787-bb5b-7b8e4582d461}">
          <p14:sldIdLst>
            <p14:sldId id="261"/>
            <p14:sldId id="262"/>
            <p14:sldId id="263"/>
            <p14:sldId id="264"/>
          </p14:sldIdLst>
        </p14:section>
        <p14:section name="Proof" id="{b8b05d45-33f0-bcd1-edda-ae2230a37c71}">
          <p14:sldIdLst>
            <p14:sldId id="265"/>
            <p14:sldId id="266"/>
          </p14:sldIdLst>
        </p14:section>
        <p14:section name="Close" id="{b1169cfd-8f29-9b87-6841-936340837649}">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F1F5F9"/>
                </a:solidFill>
                <a:latin typeface="+mn-lt"/>
              </a:defRPr>
            </a:pPr>
            <a:r>
              <a:rPr sz="1500" b="0" i="0" u="none" strike="noStrike">
                <a:solidFill>
                  <a:srgbClr val="F1F5F9"/>
                </a:solidFill>
                <a:latin typeface="+mn-lt"/>
              </a:rPr>
              <a:t>Confidence after analyst feedback</a:t>
            </a:r>
          </a:p>
        </c:rich>
      </c:tx>
      <c:layout/>
      <c:overlay val="0"/>
    </c:title>
    <c:autoTitleDeleted val="0"/>
    <c:plotArea>
      <c:layout/>
      <c:barChart>
        <c:barDir val="col"/>
        <c:grouping val="clustered"/>
        <c:varyColors val="0"/>
        <c:ser>
          <c:idx val="0"/>
          <c:order val="0"/>
          <c:tx>
            <c:strRef>
              <c:f>Sheet1!$B$1</c:f>
              <c:strCache>
                <c:ptCount val="1"/>
                <c:pt idx="0">
                  <c:v>Confidence</c:v>
                </c:pt>
              </c:strCache>
            </c:strRef>
          </c:tx>
          <c:spPr>
            <a:solidFill>
              <a:srgbClr val="F67878"/>
            </a:solidFill>
            <a:effectLst/>
          </c:spPr>
          <c:invertIfNegative val="0"/>
          <c:dLbls>
            <c:numFmt formatCode="0.00" sourceLinked="0"/>
            <c:txPr>
              <a:bodyPr/>
              <a:lstStyle/>
              <a:p>
                <a:pPr>
                  <a:defRPr b="1" i="0" strike="noStrike" sz="1400" u="none">
                    <a:solidFill>
                      <a:srgbClr val="F1F5F9"/>
                    </a:solidFill>
                    <a:latin typeface="+mn-lt"/>
                  </a:defRPr>
                </a:pPr>
              </a:p>
            </c:txPr>
            <c:showLegendKey val="0"/>
            <c:showVal val="1"/>
            <c:showCatName val="0"/>
            <c:showSerName val="0"/>
            <c:showPercent val="0"/>
            <c:showBubbleSize val="0"/>
            <c:showLeaderLines val="0"/>
          </c:dLbls>
          <c:dPt>
            <c:idx val="0"/>
            <c:invertIfNegative val="0"/>
            <c:bubble3D val="0"/>
            <c:spPr>
              <a:solidFill>
                <a:srgbClr val="F67878"/>
              </a:solidFill>
              <a:effectLst/>
            </c:spPr>
          </c:dPt>
          <c:dPt>
            <c:idx val="1"/>
            <c:invertIfNegative val="0"/>
            <c:bubble3D val="0"/>
            <c:spPr>
              <a:solidFill>
                <a:srgbClr val="94A3B8"/>
              </a:solidFill>
              <a:effectLst/>
            </c:spPr>
          </c:dPt>
          <c:dPt>
            <c:idx val="2"/>
            <c:invertIfNegative val="0"/>
            <c:bubble3D val="0"/>
            <c:spPr>
              <a:solidFill>
                <a:srgbClr val="40D6C4"/>
              </a:solidFill>
              <a:effectLst/>
            </c:spPr>
          </c:dPt>
          <c:cat>
            <c:multiLvlStrRef>
              <c:f>Sheet1!$A$2:$A$4</c:f>
              <c:multiLvlStrCache>
                <c:ptCount val="3"/>
                <c:lvl>
                  <c:pt idx="0">
                    <c:v>Marked wrong</c:v>
                  </c:pt>
                  <c:pt idx="1">
                    <c:v>New memory</c:v>
                  </c:pt>
                  <c:pt idx="2">
                    <c:v>Confirmed</c:v>
                  </c:pt>
                </c:lvl>
              </c:multiLvlStrCache>
            </c:multiLvlStrRef>
          </c:cat>
          <c:val>
            <c:numRef>
              <c:f>Sheet1!$B$2:$B$4</c:f>
              <c:numCache>
                <c:formatCode>General</c:formatCode>
                <c:ptCount val="3"/>
                <c:pt idx="0">
                  <c:v>0.5</c:v>
                </c:pt>
                <c:pt idx="1">
                  <c:v>0.7</c:v>
                </c:pt>
                <c:pt idx="2">
                  <c:v>0.75</c:v>
                </c:pt>
              </c:numCache>
            </c:numRef>
          </c:val>
        </c:ser>
        <c:dLbls>
          <c:numFmt formatCode="0.00" sourceLinked="0"/>
          <c:txPr>
            <a:bodyPr/>
            <a:lstStyle/>
            <a:p>
              <a:pPr>
                <a:defRPr b="1" i="0" strike="noStrike" sz="1400" u="none">
                  <a:solidFill>
                    <a:srgbClr val="F1F5F9"/>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94A3B8"/>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2A355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4A3B8"/>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Stockout Why answers one question a shop owner actually asks: why did this product run out? It names the cause, shows how it decided, and cites the query rows behind every claim. Built for Track 2 of the Open Agent Hackathon 2026 on Zetaris, Meterless H-MEM, Meterless Nightshift and NVIDIA Nemotron.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shelf empties there are usually two explanations: the supplier delivered late, or demand jumped. Guess wrong either way and it costs you: excess stock and cash on one side, an unfair dispute on the other. A list of plausible causes doesn't settle it. We wanted an agent that proves which cause mattered.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about one SKU and you get three things. A verdict, computed from the records, not guessed. The reasoning: every candidate cause tested, with the numbers. And the evidence: each claim names the Zetaris query, its row count and a hash of the result, so a sceptical buyer can re-run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idea. Instead of scoring causes, the agent replays history with one cause repaired at a time. If fixing the supplier's lead time alone prevents the stockout, that is the primary cause. Demand did rise, so a plausibility scorer would blame it, but the shelf empties even at the earlier, lower rate, so it is contributing, not sufficient. Everything in this table comes from the live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Zetaris is the only door to the data. The core reaches the verdict deterministically. H-MEM remembers what earlier investigations concluded. Nemotron, through Nightshift, writes the explanation, and only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tables live in a retail database that Zetaris federates. The agent never touches the database directly and never writes SQL: it picks from a fixed allowlist of read-only queries. Every read comes back as an evidence record, which is what lets the report cite its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H-MEM is the Meterless memory engine. We implemented it ourselves from the spec, and it passes all 13 cases on the official conformance runner. In the product, each verdict is remembered with its lineage. Run the same supplier again and it comes back. An analyst confirming it moves confidence from 0.70 to 0.75; marking it wrong drops it to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Nightshift is the app's AI provider. Its lane runs NVIDIA Nemotron 3.5 Lightning. Because a routing mode could land on a different model, the report records the model that actually answered and Nightshift's receipt. Nemotron's job is bounded on purpose: it explains the verdict, it never reaches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track about explaining why can't tolerate a fluent sentence with an invented number. So every figure Nemotron writes is checked against the evidence. One unsupported number and the whole explanation is discarded in favour of the computed wording. Empty or cut-off replies are retried, never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was run on this machine against live services. The setup check passes all six, including a real Nemotron request. 39 tests pass from a clean clone, and the H-MEM engine passes the official conformance runner. OpenRouter's activity confirms the requests came from the Meterless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 rather say this plainly than have judges find it. The data is synthetic. Only one fault type is the true cause. Zetaris is verified on a local install. The memory's recall is lexical. The checker checks numbers, not phrasing. And Nemotron's latency varies with the upstream provider, so the app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mode runs anywhere with Node 22: no keys and no network, and it reaches the same verdict as the live path. Live mode needs Zetaris and Nightshift running locally; the loader registers the retail database and checks every table, and the smoke test confirms the whole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Sohaib Aamir, an AI backend engineer at NCAI, NUST, and an MS computer science student. My work is AI that has to hold up on messy, real data, and measuring where it fails, which is exactly what this agent's claim checker and honest-limits section are about.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6766560" cy="1143000"/>
          </a:xfrm>
          <a:prstGeom prst="rect">
            <a:avLst/>
          </a:prstGeom>
          <a:noFill/>
          <a:ln/>
        </p:spPr>
        <p:txBody>
          <a:bodyPr wrap="square" rtlCol="0"/>
          <a:lstStyle>
            <a:lvl1pPr algn="l" indent="0" marL="0">
              <a:buNone/>
              <a:defRPr lang="en-US" sz="6000" b="1" dirty="0">
                <a:solidFill>
                  <a:schemeClr val="tx1"/>
                </a:solidFill>
              </a:defRPr>
            </a:lvl1pPr>
          </a:lstStyle>
          <a:p>
            <a:pPr algn="l" indent="0" marL="0">
              <a:buNone/>
            </a:pPr>
            <a:endParaRPr lang="en-US" sz="6000" dirty="0"/>
          </a:p>
        </p:txBody>
      </p:sp>
      <p:sp>
        <p:nvSpPr>
          <p:cNvPr id="3" name="Text 0"/>
          <p:cNvSpPr/>
          <p:nvPr>
            <p:ph idx="101" type="body" hasCustomPrompt="1"/>
          </p:nvPr>
        </p:nvSpPr>
        <p:spPr>
          <a:xfrm>
            <a:off x="548640" y="2697480"/>
            <a:ext cx="6583680" cy="1005840"/>
          </a:xfrm>
          <a:prstGeom prst="rect">
            <a:avLst/>
          </a:prstGeom>
          <a:noFill/>
          <a:ln/>
        </p:spPr>
        <p:txBody>
          <a:bodyPr wrap="square" rtlCol="0"/>
          <a:lstStyle>
            <a:lvl1pPr algn="l" indent="0" marL="0">
              <a:buNone/>
              <a:defRPr lang="en-US" sz="2200" dirty="0">
                <a:solidFill>
                  <a:schemeClr val="tx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tx2"/>
                </a:solidFill>
              </a:rPr>
              <a:t>Stockout Why  ·  Open Agent Hackathon 2026</a:t>
            </a:r>
            <a:endParaRPr lang="en-US" sz="1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linkedin.com/in/sohaib-aamir" TargetMode="External"/><Relationship Id="rId1" Type="http://schemas.openxmlformats.org/officeDocument/2006/relationships/image" Target="../media/image-1-1.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SohaibAamir28/stockout-why" TargetMode="Externa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linkedin.com/in/sohaib-aamir" TargetMode="External"/><Relationship Id="rId3" Type="http://schemas.openxmlformats.org/officeDocument/2006/relationships/hyperlink" Target="https://github.com/SohaibAamir28/stockout-why" TargetMode="External"/><Relationship Id="rId1" Type="http://schemas.openxmlformats.org/officeDocument/2006/relationships/image" Target="../media/image-13-1.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OPEN AGENT HACKATHON 2026  ·  TRACK 2: THE AGENT THAT CAN EXPLAIN WHY</a:t>
            </a:r>
            <a:endParaRPr lang="en-US" sz="1200" dirty="0"/>
          </a:p>
        </p:txBody>
      </p:sp>
      <p:sp>
        <p:nvSpPr>
          <p:cNvPr id="3" name="Text 0"/>
          <p:cNvSpPr/>
          <p:nvPr>
            <p:ph idx="100" type="title" hasCustomPrompt="1"/>
          </p:nvPr>
        </p:nvSpPr>
        <p:spPr>
          <a:xfrm>
            <a:off x="548640" y="1417320"/>
            <a:ext cx="6766560" cy="1143000"/>
          </a:xfrm>
          <a:prstGeom prst="rect">
            <a:avLst/>
          </a:prstGeom>
          <a:noFill/>
          <a:ln/>
        </p:spPr>
        <p:txBody>
          <a:bodyPr wrap="square" lIns="0" tIns="0" rIns="0" bIns="0" rtlCol="0" anchor="t"/>
          <a:lstStyle/>
          <a:p>
            <a:pPr algn="l" indent="0" marL="0">
              <a:buNone/>
            </a:pPr>
            <a:r>
              <a:rPr lang="en-US" sz="6000" b="1" dirty="0">
                <a:solidFill>
                  <a:schemeClr val="tx1"/>
                </a:solidFill>
              </a:rPr>
              <a:t>Stockout Why</a:t>
            </a:r>
            <a:endParaRPr lang="en-US" sz="6000" dirty="0"/>
          </a:p>
        </p:txBody>
      </p:sp>
      <p:sp>
        <p:nvSpPr>
          <p:cNvPr id="4" name="Text 0"/>
          <p:cNvSpPr/>
          <p:nvPr>
            <p:ph idx="101" type="body" hasCustomPrompt="1"/>
          </p:nvPr>
        </p:nvSpPr>
        <p:spPr>
          <a:xfrm>
            <a:off x="548640" y="2697480"/>
            <a:ext cx="6583680" cy="1005840"/>
          </a:xfrm>
          <a:prstGeom prst="rect">
            <a:avLst/>
          </a:prstGeom>
          <a:noFill/>
          <a:ln/>
        </p:spPr>
        <p:txBody>
          <a:bodyPr wrap="square" lIns="0" tIns="0" rIns="0" bIns="0" rtlCol="0" anchor="t"/>
          <a:lstStyle/>
          <a:p>
            <a:pPr algn="l" indent="0" marL="0">
              <a:buNone/>
            </a:pPr>
            <a:r>
              <a:rPr lang="en-US" sz="2200" dirty="0">
                <a:solidFill>
                  <a:schemeClr val="tx1"/>
                </a:solidFill>
              </a:rPr>
              <a:t>An AI agent that explains why a product ran out, and cites the rows behind every claim.</a:t>
            </a:r>
            <a:endParaRPr lang="en-US" sz="2200" dirty="0"/>
          </a:p>
        </p:txBody>
      </p:sp>
      <p:sp>
        <p:nvSpPr>
          <p:cNvPr id="5" name="Chip Zetaris"/>
          <p:cNvSpPr/>
          <p:nvPr/>
        </p:nvSpPr>
        <p:spPr>
          <a:xfrm>
            <a:off x="548640" y="3977640"/>
            <a:ext cx="941649" cy="347472"/>
          </a:xfrm>
          <a:prstGeom prst="roundRect">
            <a:avLst>
              <a:gd name="adj" fmla="val 50000"/>
            </a:avLst>
          </a:prstGeom>
          <a:solidFill>
            <a:schemeClr val="accent3"/>
          </a:solidFill>
          <a:ln w="12700">
            <a:solidFill>
              <a:schemeClr val="accent3"/>
            </a:solidFill>
            <a:prstDash val="solid"/>
          </a:ln>
        </p:spPr>
      </p:sp>
      <p:sp>
        <p:nvSpPr>
          <p:cNvPr id="6" name="Chip Zetaris label"/>
          <p:cNvSpPr txBox="1"/>
          <p:nvPr/>
        </p:nvSpPr>
        <p:spPr>
          <a:xfrm>
            <a:off x="548640" y="3977640"/>
            <a:ext cx="941649" cy="347472"/>
          </a:xfrm>
          <a:prstGeom prst="rect">
            <a:avLst/>
          </a:prstGeom>
          <a:noFill/>
          <a:ln/>
        </p:spPr>
        <p:txBody>
          <a:bodyPr wrap="square" lIns="0" tIns="0" rIns="0" bIns="0" rtlCol="0" anchor="ctr"/>
          <a:lstStyle/>
          <a:p>
            <a:pPr algn="ctr" indent="0" marL="0">
              <a:buNone/>
            </a:pPr>
            <a:r>
              <a:rPr lang="en-US" sz="1300" b="1" dirty="0">
                <a:solidFill>
                  <a:schemeClr val="bg1"/>
                </a:solidFill>
              </a:rPr>
              <a:t>Zetaris</a:t>
            </a:r>
            <a:endParaRPr lang="en-US" sz="1300" dirty="0"/>
          </a:p>
        </p:txBody>
      </p:sp>
      <p:sp>
        <p:nvSpPr>
          <p:cNvPr id="7" name="Chip Meterless H-MEM"/>
          <p:cNvSpPr/>
          <p:nvPr/>
        </p:nvSpPr>
        <p:spPr>
          <a:xfrm>
            <a:off x="1627449" y="3977640"/>
            <a:ext cx="1683410" cy="347472"/>
          </a:xfrm>
          <a:prstGeom prst="roundRect">
            <a:avLst>
              <a:gd name="adj" fmla="val 50000"/>
            </a:avLst>
          </a:prstGeom>
          <a:solidFill>
            <a:schemeClr val="accent4"/>
          </a:solidFill>
          <a:ln w="12700">
            <a:solidFill>
              <a:schemeClr val="accent4"/>
            </a:solidFill>
            <a:prstDash val="solid"/>
          </a:ln>
        </p:spPr>
      </p:sp>
      <p:sp>
        <p:nvSpPr>
          <p:cNvPr id="8" name="Chip Meterless H-MEM label"/>
          <p:cNvSpPr txBox="1"/>
          <p:nvPr/>
        </p:nvSpPr>
        <p:spPr>
          <a:xfrm>
            <a:off x="1627449" y="3977640"/>
            <a:ext cx="1683410" cy="347472"/>
          </a:xfrm>
          <a:prstGeom prst="rect">
            <a:avLst/>
          </a:prstGeom>
          <a:noFill/>
          <a:ln/>
        </p:spPr>
        <p:txBody>
          <a:bodyPr wrap="square" lIns="0" tIns="0" rIns="0" bIns="0" rtlCol="0" anchor="ctr"/>
          <a:lstStyle/>
          <a:p>
            <a:pPr algn="ctr" indent="0" marL="0">
              <a:buNone/>
            </a:pPr>
            <a:r>
              <a:rPr lang="en-US" sz="1300" b="1" dirty="0">
                <a:solidFill>
                  <a:schemeClr val="bg1"/>
                </a:solidFill>
              </a:rPr>
              <a:t>Meterless H-MEM</a:t>
            </a:r>
            <a:endParaRPr lang="en-US" sz="1300" dirty="0"/>
          </a:p>
        </p:txBody>
      </p:sp>
      <p:sp>
        <p:nvSpPr>
          <p:cNvPr id="9" name="Chip Meterless Nightshift"/>
          <p:cNvSpPr/>
          <p:nvPr/>
        </p:nvSpPr>
        <p:spPr>
          <a:xfrm>
            <a:off x="3448020" y="3977640"/>
            <a:ext cx="2147011" cy="347472"/>
          </a:xfrm>
          <a:prstGeom prst="roundRect">
            <a:avLst>
              <a:gd name="adj" fmla="val 50000"/>
            </a:avLst>
          </a:prstGeom>
          <a:solidFill>
            <a:schemeClr val="accent2"/>
          </a:solidFill>
          <a:ln w="12700">
            <a:solidFill>
              <a:schemeClr val="accent2"/>
            </a:solidFill>
            <a:prstDash val="solid"/>
          </a:ln>
        </p:spPr>
      </p:sp>
      <p:sp>
        <p:nvSpPr>
          <p:cNvPr id="10" name="Chip Meterless Nightshift label"/>
          <p:cNvSpPr txBox="1"/>
          <p:nvPr/>
        </p:nvSpPr>
        <p:spPr>
          <a:xfrm>
            <a:off x="3448020" y="3977640"/>
            <a:ext cx="2147011" cy="347472"/>
          </a:xfrm>
          <a:prstGeom prst="rect">
            <a:avLst/>
          </a:prstGeom>
          <a:noFill/>
          <a:ln/>
        </p:spPr>
        <p:txBody>
          <a:bodyPr wrap="square" lIns="0" tIns="0" rIns="0" bIns="0" rtlCol="0" anchor="ctr"/>
          <a:lstStyle/>
          <a:p>
            <a:pPr algn="ctr" indent="0" marL="0">
              <a:buNone/>
            </a:pPr>
            <a:r>
              <a:rPr lang="en-US" sz="1300" b="1" dirty="0">
                <a:solidFill>
                  <a:schemeClr val="bg1"/>
                </a:solidFill>
              </a:rPr>
              <a:t>Meterless Nightshift</a:t>
            </a:r>
            <a:endParaRPr lang="en-US" sz="1300" dirty="0"/>
          </a:p>
        </p:txBody>
      </p:sp>
      <p:sp>
        <p:nvSpPr>
          <p:cNvPr id="11" name="Chip NVIDIA Nemotron"/>
          <p:cNvSpPr/>
          <p:nvPr/>
        </p:nvSpPr>
        <p:spPr>
          <a:xfrm>
            <a:off x="5732191" y="3977640"/>
            <a:ext cx="1683410" cy="347472"/>
          </a:xfrm>
          <a:prstGeom prst="roundRect">
            <a:avLst>
              <a:gd name="adj" fmla="val 50000"/>
            </a:avLst>
          </a:prstGeom>
          <a:solidFill>
            <a:schemeClr val="accent5"/>
          </a:solidFill>
          <a:ln w="12700">
            <a:solidFill>
              <a:schemeClr val="accent5"/>
            </a:solidFill>
            <a:prstDash val="solid"/>
          </a:ln>
        </p:spPr>
      </p:sp>
      <p:sp>
        <p:nvSpPr>
          <p:cNvPr id="12" name="Chip NVIDIA Nemotron label"/>
          <p:cNvSpPr txBox="1"/>
          <p:nvPr/>
        </p:nvSpPr>
        <p:spPr>
          <a:xfrm>
            <a:off x="5732191" y="3977640"/>
            <a:ext cx="1683410" cy="347472"/>
          </a:xfrm>
          <a:prstGeom prst="rect">
            <a:avLst/>
          </a:prstGeom>
          <a:noFill/>
          <a:ln/>
        </p:spPr>
        <p:txBody>
          <a:bodyPr wrap="square" lIns="0" tIns="0" rIns="0" bIns="0" rtlCol="0" anchor="ctr"/>
          <a:lstStyle/>
          <a:p>
            <a:pPr algn="ctr" indent="0" marL="0">
              <a:buNone/>
            </a:pPr>
            <a:r>
              <a:rPr lang="en-US" sz="1300" b="1" dirty="0">
                <a:solidFill>
                  <a:schemeClr val="bg1"/>
                </a:solidFill>
              </a:rPr>
              <a:t>NVIDIA Nemotron</a:t>
            </a:r>
            <a:endParaRPr lang="en-US" sz="1300" dirty="0"/>
          </a:p>
        </p:txBody>
      </p:sp>
      <p:sp>
        <p:nvSpPr>
          <p:cNvPr id="13" name="Report excerpt"/>
          <p:cNvSpPr/>
          <p:nvPr/>
        </p:nvSpPr>
        <p:spPr>
          <a:xfrm>
            <a:off x="7818120" y="1417320"/>
            <a:ext cx="3794760" cy="3154680"/>
          </a:xfrm>
          <a:prstGeom prst="roundRect">
            <a:avLst>
              <a:gd name="adj" fmla="val 3478"/>
            </a:avLst>
          </a:prstGeom>
          <a:solidFill>
            <a:schemeClr val="bg2"/>
          </a:solidFill>
          <a:ln w="12700">
            <a:solidFill>
              <a:schemeClr val="bg2"/>
            </a:solidFill>
            <a:prstDash val="solid"/>
          </a:ln>
        </p:spPr>
      </p:sp>
      <p:sp>
        <p:nvSpPr>
          <p:cNvPr id="14" name="Report excerpt text"/>
          <p:cNvSpPr txBox="1"/>
          <p:nvPr/>
        </p:nvSpPr>
        <p:spPr>
          <a:xfrm>
            <a:off x="8046720" y="1618488"/>
            <a:ext cx="3429000" cy="278892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latin typeface="Consolas" pitchFamily="34" charset="0"/>
                <a:ea typeface="Consolas" pitchFamily="34" charset="-122"/>
                <a:cs typeface="Consolas" pitchFamily="34" charset="-120"/>
              </a:rPr>
              <a:t>PRIMARY CAUSE</a:t>
            </a:r>
            <a:endParaRPr lang="en-US" sz="1500" dirty="0"/>
          </a:p>
          <a:p>
            <a:pPr indent="0" marL="0">
              <a:spcAft>
                <a:spcPts val="200"/>
              </a:spcAft>
              <a:buNone/>
            </a:pPr>
            <a:r>
              <a:rPr lang="en-US" sz="1500" b="1" dirty="0">
                <a:solidFill>
                  <a:schemeClr val="tx1"/>
                </a:solidFill>
                <a:latin typeface="Consolas" pitchFamily="34" charset="0"/>
                <a:ea typeface="Consolas" pitchFamily="34" charset="-122"/>
                <a:cs typeface="Consolas" pitchFamily="34" charset="-120"/>
              </a:rPr>
              <a:t>PO-506 took 19 days</a:t>
            </a:r>
            <a:endParaRPr lang="en-US" sz="1500" dirty="0"/>
          </a:p>
          <a:p>
            <a:pPr indent="0" marL="0">
              <a:spcAft>
                <a:spcPts val="200"/>
              </a:spcAft>
              <a:buNone/>
            </a:pPr>
            <a:r>
              <a:rPr lang="en-US" sz="1500" b="1" dirty="0">
                <a:solidFill>
                  <a:schemeClr val="tx1"/>
                </a:solidFill>
                <a:latin typeface="Consolas" pitchFamily="34" charset="0"/>
                <a:ea typeface="Consolas" pitchFamily="34" charset="-122"/>
                <a:cs typeface="Consolas" pitchFamily="34" charset="-120"/>
              </a:rPr>
              <a:t>against a quoted 7</a:t>
            </a:r>
            <a:endParaRPr lang="en-US" sz="1500" dirty="0"/>
          </a:p>
          <a:p>
            <a:pPr indent="0" marL="0">
              <a:spcAft>
                <a:spcPts val="200"/>
              </a:spcAft>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indent="0" marL="0">
              <a:spcAft>
                <a:spcPts val="200"/>
              </a:spcAft>
              <a:buNone/>
            </a:pPr>
            <a:r>
              <a:rPr lang="en-US" sz="1500" dirty="0">
                <a:solidFill>
                  <a:schemeClr val="accent2"/>
                </a:solidFill>
                <a:latin typeface="Consolas" pitchFamily="34" charset="0"/>
                <a:ea typeface="Consolas" pitchFamily="34" charset="-122"/>
                <a:cs typeface="Consolas" pitchFamily="34" charset="-120"/>
              </a:rPr>
              <a:t>[supported] late vs promise</a:t>
            </a:r>
            <a:endParaRPr lang="en-US" sz="1500" dirty="0"/>
          </a:p>
          <a:p>
            <a:pPr indent="0" marL="0">
              <a:spcAft>
                <a:spcPts val="200"/>
              </a:spcAft>
              <a:buNone/>
            </a:pPr>
            <a:r>
              <a:rPr lang="en-US" sz="1500" dirty="0">
                <a:solidFill>
                  <a:schemeClr val="accent2"/>
                </a:solidFill>
                <a:latin typeface="Consolas" pitchFamily="34" charset="0"/>
                <a:ea typeface="Consolas" pitchFamily="34" charset="-122"/>
                <a:cs typeface="Consolas" pitchFamily="34" charset="-120"/>
              </a:rPr>
              <a:t>[supported] demand rose 1.20x</a:t>
            </a:r>
            <a:endParaRPr lang="en-US" sz="1500" dirty="0"/>
          </a:p>
          <a:p>
            <a:pPr indent="0" marL="0">
              <a:spcAft>
                <a:spcPts val="200"/>
              </a:spcAft>
              <a:buNone/>
            </a:pPr>
            <a:r>
              <a:rPr lang="en-US" sz="1500" dirty="0">
                <a:solidFill>
                  <a:schemeClr val="tx2"/>
                </a:solidFill>
                <a:latin typeface="Consolas" pitchFamily="34" charset="0"/>
                <a:ea typeface="Consolas" pitchFamily="34" charset="-122"/>
                <a:cs typeface="Consolas" pitchFamily="34" charset="-120"/>
              </a:rPr>
              <a:t>  ...but not sufficient</a:t>
            </a:r>
            <a:endParaRPr lang="en-US" sz="1500" dirty="0"/>
          </a:p>
          <a:p>
            <a:pPr indent="0" marL="0">
              <a:spcAft>
                <a:spcPts val="200"/>
              </a:spcAft>
              <a:buNone/>
            </a:pPr>
            <a:r>
              <a:rPr lang="en-US" sz="1500" dirty="0">
                <a:solidFill>
                  <a:schemeClr val="accent6"/>
                </a:solidFill>
                <a:latin typeface="Consolas" pitchFamily="34" charset="0"/>
                <a:ea typeface="Consolas" pitchFamily="34" charset="-122"/>
                <a:cs typeface="Consolas" pitchFamily="34" charset="-120"/>
              </a:rPr>
              <a:t>[ruled out] reorder point</a:t>
            </a:r>
            <a:endParaRPr lang="en-US" sz="1500" dirty="0"/>
          </a:p>
          <a:p>
            <a:pPr indent="0" marL="0">
              <a:spcAft>
                <a:spcPts val="200"/>
              </a:spcAft>
              <a:buNone/>
            </a:pPr>
            <a:r>
              <a:rPr lang="en-US" sz="1500" dirty="0">
                <a:solidFill>
                  <a:schemeClr val="accent6"/>
                </a:solidFill>
                <a:latin typeface="Consolas" pitchFamily="34" charset="0"/>
                <a:ea typeface="Consolas" pitchFamily="34" charset="-122"/>
                <a:cs typeface="Consolas" pitchFamily="34" charset="-120"/>
              </a:rPr>
              <a:t>[ruled out] order raised late</a:t>
            </a:r>
            <a:endParaRPr lang="en-US" sz="1500" dirty="0"/>
          </a:p>
          <a:p>
            <a:pPr indent="0" marL="0">
              <a:spcAft>
                <a:spcPts val="200"/>
              </a:spcAft>
              <a:buNone/>
            </a:pPr>
            <a:r>
              <a:rPr lang="en-US" sz="1500" dirty="0">
                <a:solidFill>
                  <a:schemeClr val="tx1"/>
                </a:solidFill>
                <a:latin typeface="Consolas" pitchFamily="34" charset="0"/>
                <a:ea typeface="Consolas" pitchFamily="34" charset="-122"/>
                <a:cs typeface="Consolas" pitchFamily="34" charset="-120"/>
              </a:rPr>
              <a:t> </a:t>
            </a:r>
            <a:endParaRPr lang="en-US" sz="1500" dirty="0"/>
          </a:p>
          <a:p>
            <a:pPr indent="0" marL="0">
              <a:spcAft>
                <a:spcPts val="200"/>
              </a:spcAft>
              <a:buNone/>
            </a:pPr>
            <a:r>
              <a:rPr lang="en-US" sz="1500" b="1" dirty="0">
                <a:solidFill>
                  <a:schemeClr val="accent5"/>
                </a:solidFill>
                <a:latin typeface="Consolas" pitchFamily="34" charset="0"/>
                <a:ea typeface="Consolas" pitchFamily="34" charset="-122"/>
                <a:cs typeface="Consolas" pitchFamily="34" charset="-120"/>
              </a:rPr>
              <a:t>nemotron   yes</a:t>
            </a:r>
            <a:endParaRPr lang="en-US" sz="1500" dirty="0"/>
          </a:p>
        </p:txBody>
      </p:sp>
      <p:pic>
        <p:nvPicPr>
          <p:cNvPr id="15" name="Builder photo" descr="Photo of Sohaib Aamir">    </p:cNvPr>
          <p:cNvPicPr>
            <a:picLocks noChangeAspect="1"/>
          </p:cNvPicPr>
          <p:nvPr/>
        </p:nvPicPr>
        <p:blipFill>
          <a:blip r:embed="rId1"/>
          <a:stretch>
            <a:fillRect/>
          </a:stretch>
        </p:blipFill>
        <p:spPr>
          <a:xfrm>
            <a:off x="548640" y="5074920"/>
            <a:ext cx="868680" cy="868680"/>
          </a:xfrm>
          <a:prstGeom prst="ellipse">
            <a:avLst/>
          </a:prstGeom>
        </p:spPr>
      </p:pic>
      <p:sp>
        <p:nvSpPr>
          <p:cNvPr id="16" name="Builder name"/>
          <p:cNvSpPr txBox="1"/>
          <p:nvPr/>
        </p:nvSpPr>
        <p:spPr>
          <a:xfrm>
            <a:off x="1645920" y="5138928"/>
            <a:ext cx="5486400" cy="365760"/>
          </a:xfrm>
          <a:prstGeom prst="rect">
            <a:avLst/>
          </a:prstGeom>
          <a:noFill/>
          <a:ln/>
        </p:spPr>
        <p:txBody>
          <a:bodyPr wrap="square" lIns="0" tIns="0" rIns="0" bIns="0" rtlCol="0" anchor="t"/>
          <a:lstStyle/>
          <a:p>
            <a:pPr indent="0" marL="0">
              <a:buNone/>
            </a:pPr>
            <a:r>
              <a:rPr lang="en-US" sz="2000" b="1" dirty="0">
                <a:solidFill>
                  <a:schemeClr val="tx1"/>
                </a:solidFill>
              </a:rPr>
              <a:t>Sohaib Aamir</a:t>
            </a:r>
            <a:endParaRPr lang="en-US" sz="2000" dirty="0"/>
          </a:p>
        </p:txBody>
      </p:sp>
      <p:sp>
        <p:nvSpPr>
          <p:cNvPr id="17" name="Builder line"/>
          <p:cNvSpPr txBox="1"/>
          <p:nvPr/>
        </p:nvSpPr>
        <p:spPr>
          <a:xfrm>
            <a:off x="1645920" y="5532120"/>
            <a:ext cx="6400800" cy="320040"/>
          </a:xfrm>
          <a:prstGeom prst="rect">
            <a:avLst/>
          </a:prstGeom>
          <a:noFill/>
          <a:ln/>
        </p:spPr>
        <p:txBody>
          <a:bodyPr wrap="square" lIns="0" tIns="0" rIns="0" bIns="0" rtlCol="0" anchor="t"/>
          <a:lstStyle/>
          <a:p>
            <a:pPr indent="0" marL="0">
              <a:buNone/>
            </a:pPr>
            <a:r>
              <a:rPr lang="en-US" sz="1400" dirty="0">
                <a:solidFill>
                  <a:schemeClr val="tx2"/>
                </a:solidFill>
              </a:rPr>
              <a:t>AI Backend Engineer, NCAI, NUST  ·  </a:t>
            </a:r>
            <a:pPr indent="0" marL="0">
              <a:buNone/>
            </a:pPr>
            <a:r>
              <a:rPr lang="en-US" sz="1400" u="sng" dirty="0">
                <a:solidFill>
                  <a:schemeClr val="accent3"/>
                </a:solidFill>
                <a:hlinkClick r:id="rId2" invalidUrl="" action="" tgtFrame="" tooltip="" history="1" highlightClick="0" endSnd="0">
                  <a:extLst>
                    <a:ext uri="{A12FA001-AC4F-418D-AE19-62706E023703}">
                      <ahyp:hlinkClr xmlns:ahyp="http://schemas.microsoft.com/office/drawing/2018/hyperlinkcolor" val="tx"/>
                    </a:ext>
                  </a:extLst>
                </a:hlinkClick>
              </a:rPr>
              <a:t>linkedin.com/in/sohaib-aamir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THE PROBLEM</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An empty shelf has two suspects</a:t>
            </a:r>
            <a:endParaRPr lang="en-US" sz="3400" dirty="0"/>
          </a:p>
        </p:txBody>
      </p:sp>
      <p:sp>
        <p:nvSpPr>
          <p:cNvPr id="4" name="Suspect 1 card"/>
          <p:cNvSpPr/>
          <p:nvPr/>
        </p:nvSpPr>
        <p:spPr>
          <a:xfrm>
            <a:off x="548640" y="1508760"/>
            <a:ext cx="5394960" cy="3063240"/>
          </a:xfrm>
          <a:prstGeom prst="roundRect">
            <a:avLst>
              <a:gd name="adj" fmla="val 3582"/>
            </a:avLst>
          </a:prstGeom>
          <a:solidFill>
            <a:schemeClr val="bg2"/>
          </a:solidFill>
          <a:ln w="12700">
            <a:solidFill>
              <a:schemeClr val="bg2"/>
            </a:solidFill>
            <a:prstDash val="solid"/>
          </a:ln>
        </p:spPr>
      </p:sp>
      <p:sp>
        <p:nvSpPr>
          <p:cNvPr id="5" name="Suspect 1 badge"/>
          <p:cNvSpPr/>
          <p:nvPr/>
        </p:nvSpPr>
        <p:spPr>
          <a:xfrm>
            <a:off x="5029200" y="1783080"/>
            <a:ext cx="640080" cy="640080"/>
          </a:xfrm>
          <a:prstGeom prst="ellipse">
            <a:avLst/>
          </a:prstGeom>
          <a:solidFill>
            <a:schemeClr val="accent1"/>
          </a:solidFill>
          <a:ln w="12700">
            <a:solidFill>
              <a:schemeClr val="accent1"/>
            </a:solidFill>
            <a:prstDash val="solid"/>
          </a:ln>
        </p:spPr>
      </p:sp>
      <p:sp>
        <p:nvSpPr>
          <p:cNvPr id="6" name="Suspect 1 badge label"/>
          <p:cNvSpPr txBox="1"/>
          <p:nvPr/>
        </p:nvSpPr>
        <p:spPr>
          <a:xfrm>
            <a:off x="5029200" y="17830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7" name="Suspect 1 label"/>
          <p:cNvSpPr txBox="1"/>
          <p:nvPr/>
        </p:nvSpPr>
        <p:spPr>
          <a:xfrm>
            <a:off x="914400" y="1828800"/>
            <a:ext cx="36576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SUSPECT 1</a:t>
            </a:r>
            <a:endParaRPr lang="en-US" sz="1200" dirty="0"/>
          </a:p>
        </p:txBody>
      </p:sp>
      <p:sp>
        <p:nvSpPr>
          <p:cNvPr id="8" name="Suspect 1 heading"/>
          <p:cNvSpPr txBox="1"/>
          <p:nvPr/>
        </p:nvSpPr>
        <p:spPr>
          <a:xfrm>
            <a:off x="914400" y="2194560"/>
            <a:ext cx="4023360" cy="475488"/>
          </a:xfrm>
          <a:prstGeom prst="rect">
            <a:avLst/>
          </a:prstGeom>
          <a:noFill/>
          <a:ln/>
        </p:spPr>
        <p:txBody>
          <a:bodyPr wrap="square" lIns="0" tIns="0" rIns="0" bIns="0" rtlCol="0" anchor="t"/>
          <a:lstStyle/>
          <a:p>
            <a:pPr indent="0" marL="0">
              <a:buNone/>
            </a:pPr>
            <a:r>
              <a:rPr lang="en-US" sz="2600" b="1" dirty="0">
                <a:solidFill>
                  <a:schemeClr val="tx1"/>
                </a:solidFill>
              </a:rPr>
              <a:t>The supplier was late</a:t>
            </a:r>
            <a:endParaRPr lang="en-US" sz="2600" dirty="0"/>
          </a:p>
        </p:txBody>
      </p:sp>
      <p:sp>
        <p:nvSpPr>
          <p:cNvPr id="9" name="Suspect 1 text"/>
          <p:cNvSpPr txBox="1"/>
          <p:nvPr/>
        </p:nvSpPr>
        <p:spPr>
          <a:xfrm>
            <a:off x="914400" y="3017520"/>
            <a:ext cx="4663440" cy="1371600"/>
          </a:xfrm>
          <a:prstGeom prst="rect">
            <a:avLst/>
          </a:prstGeom>
          <a:noFill/>
          <a:ln/>
        </p:spPr>
        <p:txBody>
          <a:bodyPr wrap="square" lIns="0" tIns="0" rIns="0" bIns="0" rtlCol="0" anchor="t"/>
          <a:lstStyle/>
          <a:p>
            <a:pPr indent="0" marL="0">
              <a:buNone/>
            </a:pPr>
            <a:r>
              <a:rPr lang="en-US" sz="1600" dirty="0">
                <a:solidFill>
                  <a:schemeClr val="tx2"/>
                </a:solidFill>
              </a:rPr>
              <a:t>Blame demand instead and you over-order: cash tied up in stock you didn't need, while the late supplier goes unchallenged.</a:t>
            </a:r>
            <a:endParaRPr lang="en-US" sz="1600" dirty="0"/>
          </a:p>
        </p:txBody>
      </p:sp>
      <p:sp>
        <p:nvSpPr>
          <p:cNvPr id="10" name="Suspect 2 card"/>
          <p:cNvSpPr/>
          <p:nvPr/>
        </p:nvSpPr>
        <p:spPr>
          <a:xfrm>
            <a:off x="6217920" y="1508760"/>
            <a:ext cx="5394960" cy="3063240"/>
          </a:xfrm>
          <a:prstGeom prst="roundRect">
            <a:avLst>
              <a:gd name="adj" fmla="val 3582"/>
            </a:avLst>
          </a:prstGeom>
          <a:solidFill>
            <a:schemeClr val="bg2"/>
          </a:solidFill>
          <a:ln w="12700">
            <a:solidFill>
              <a:schemeClr val="bg2"/>
            </a:solidFill>
            <a:prstDash val="solid"/>
          </a:ln>
        </p:spPr>
      </p:sp>
      <p:sp>
        <p:nvSpPr>
          <p:cNvPr id="11" name="Suspect 2 badge"/>
          <p:cNvSpPr/>
          <p:nvPr/>
        </p:nvSpPr>
        <p:spPr>
          <a:xfrm>
            <a:off x="10698480" y="1783080"/>
            <a:ext cx="640080" cy="640080"/>
          </a:xfrm>
          <a:prstGeom prst="ellipse">
            <a:avLst/>
          </a:prstGeom>
          <a:solidFill>
            <a:schemeClr val="accent2"/>
          </a:solidFill>
          <a:ln w="12700">
            <a:solidFill>
              <a:schemeClr val="accent2"/>
            </a:solidFill>
            <a:prstDash val="solid"/>
          </a:ln>
        </p:spPr>
      </p:sp>
      <p:sp>
        <p:nvSpPr>
          <p:cNvPr id="12" name="Suspect 2 badge label"/>
          <p:cNvSpPr txBox="1"/>
          <p:nvPr/>
        </p:nvSpPr>
        <p:spPr>
          <a:xfrm>
            <a:off x="10698480" y="17830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a:t>
            </a:r>
            <a:endParaRPr lang="en-US" sz="2200" dirty="0"/>
          </a:p>
        </p:txBody>
      </p:sp>
      <p:sp>
        <p:nvSpPr>
          <p:cNvPr id="13" name="Suspect 2 label"/>
          <p:cNvSpPr txBox="1"/>
          <p:nvPr/>
        </p:nvSpPr>
        <p:spPr>
          <a:xfrm>
            <a:off x="6583680" y="182880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SUSPECT 2</a:t>
            </a:r>
            <a:endParaRPr lang="en-US" sz="1200" dirty="0"/>
          </a:p>
        </p:txBody>
      </p:sp>
      <p:sp>
        <p:nvSpPr>
          <p:cNvPr id="14" name="Suspect 2 heading"/>
          <p:cNvSpPr txBox="1"/>
          <p:nvPr/>
        </p:nvSpPr>
        <p:spPr>
          <a:xfrm>
            <a:off x="6583680" y="2194560"/>
            <a:ext cx="4023360" cy="475488"/>
          </a:xfrm>
          <a:prstGeom prst="rect">
            <a:avLst/>
          </a:prstGeom>
          <a:noFill/>
          <a:ln/>
        </p:spPr>
        <p:txBody>
          <a:bodyPr wrap="square" lIns="0" tIns="0" rIns="0" bIns="0" rtlCol="0" anchor="t"/>
          <a:lstStyle/>
          <a:p>
            <a:pPr indent="0" marL="0">
              <a:buNone/>
            </a:pPr>
            <a:r>
              <a:rPr lang="en-US" sz="2600" b="1" dirty="0">
                <a:solidFill>
                  <a:schemeClr val="tx1"/>
                </a:solidFill>
              </a:rPr>
              <a:t>Demand spiked</a:t>
            </a:r>
            <a:endParaRPr lang="en-US" sz="2600" dirty="0"/>
          </a:p>
        </p:txBody>
      </p:sp>
      <p:sp>
        <p:nvSpPr>
          <p:cNvPr id="15" name="Suspect 2 text"/>
          <p:cNvSpPr txBox="1"/>
          <p:nvPr/>
        </p:nvSpPr>
        <p:spPr>
          <a:xfrm>
            <a:off x="6583680" y="3017520"/>
            <a:ext cx="4663440" cy="1371600"/>
          </a:xfrm>
          <a:prstGeom prst="rect">
            <a:avLst/>
          </a:prstGeom>
          <a:noFill/>
          <a:ln/>
        </p:spPr>
        <p:txBody>
          <a:bodyPr wrap="square" lIns="0" tIns="0" rIns="0" bIns="0" rtlCol="0" anchor="t"/>
          <a:lstStyle/>
          <a:p>
            <a:pPr indent="0" marL="0">
              <a:buNone/>
            </a:pPr>
            <a:r>
              <a:rPr lang="en-US" sz="1600" dirty="0">
                <a:solidFill>
                  <a:schemeClr val="tx2"/>
                </a:solidFill>
              </a:rPr>
              <a:t>Blame the supplier instead and you start a dispute you can't prove, and the shelf empties again the next time demand jumps.</a:t>
            </a:r>
            <a:endParaRPr lang="en-US" sz="1600" dirty="0"/>
          </a:p>
        </p:txBody>
      </p:sp>
      <p:sp>
        <p:nvSpPr>
          <p:cNvPr id="16" name="Problem statement"/>
          <p:cNvSpPr txBox="1"/>
          <p:nvPr/>
        </p:nvSpPr>
        <p:spPr>
          <a:xfrm>
            <a:off x="548640" y="4983480"/>
            <a:ext cx="11064240" cy="822960"/>
          </a:xfrm>
          <a:prstGeom prst="rect">
            <a:avLst/>
          </a:prstGeom>
          <a:noFill/>
          <a:ln/>
        </p:spPr>
        <p:txBody>
          <a:bodyPr wrap="square" lIns="0" tIns="0" rIns="0" bIns="0" rtlCol="0" anchor="t"/>
          <a:lstStyle/>
          <a:p>
            <a:pPr indent="0" marL="0">
              <a:buNone/>
            </a:pPr>
            <a:r>
              <a:rPr lang="en-US" sz="2000" dirty="0">
                <a:solidFill>
                  <a:schemeClr val="tx1"/>
                </a:solidFill>
              </a:rPr>
              <a:t>Most tools rank plausible causes. A plausible cause isn't a proven one. </a:t>
            </a:r>
            <a:pPr indent="0" marL="0">
              <a:buNone/>
            </a:pPr>
            <a:r>
              <a:rPr lang="en-US" sz="2000" b="1" dirty="0">
                <a:solidFill>
                  <a:schemeClr val="accent1"/>
                </a:solidFill>
              </a:rPr>
              <a:t>Stockout Why proves which cause mattered, and shows the rows.</a:t>
            </a:r>
            <a:endParaRPr lang="en-US" sz="2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WHAT IT DOES</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One question in, a verdict with receipts out</a:t>
            </a:r>
            <a:endParaRPr lang="en-US" sz="3400" dirty="0"/>
          </a:p>
        </p:txBody>
      </p:sp>
      <p:sp>
        <p:nvSpPr>
          <p:cNvPr id="4" name="Step 1 badge"/>
          <p:cNvSpPr/>
          <p:nvPr/>
        </p:nvSpPr>
        <p:spPr>
          <a:xfrm>
            <a:off x="548640" y="1600200"/>
            <a:ext cx="548640" cy="548640"/>
          </a:xfrm>
          <a:prstGeom prst="ellipse">
            <a:avLst/>
          </a:prstGeom>
          <a:solidFill>
            <a:schemeClr val="accent1"/>
          </a:solidFill>
          <a:ln w="12700">
            <a:solidFill>
              <a:schemeClr val="accent1"/>
            </a:solidFill>
            <a:prstDash val="solid"/>
          </a:ln>
        </p:spPr>
      </p:sp>
      <p:sp>
        <p:nvSpPr>
          <p:cNvPr id="5" name="Step 1 badge label"/>
          <p:cNvSpPr txBox="1"/>
          <p:nvPr/>
        </p:nvSpPr>
        <p:spPr>
          <a:xfrm>
            <a:off x="548640" y="1600200"/>
            <a:ext cx="548640" cy="548640"/>
          </a:xfrm>
          <a:prstGeom prst="rect">
            <a:avLst/>
          </a:prstGeom>
          <a:noFill/>
          <a:ln/>
        </p:spPr>
        <p:txBody>
          <a:bodyPr wrap="square" lIns="0" tIns="0" rIns="0" bIns="0" rtlCol="0" anchor="ctr"/>
          <a:lstStyle/>
          <a:p>
            <a:pPr algn="ctr" indent="0" marL="0">
              <a:buNone/>
            </a:pPr>
            <a:r>
              <a:rPr lang="en-US" sz="1900" b="1" dirty="0">
                <a:solidFill>
                  <a:schemeClr val="bg1"/>
                </a:solidFill>
              </a:rPr>
              <a:t>1</a:t>
            </a:r>
            <a:endParaRPr lang="en-US" sz="1900" dirty="0"/>
          </a:p>
        </p:txBody>
      </p:sp>
      <p:sp>
        <p:nvSpPr>
          <p:cNvPr id="6" name="Step 1 heading"/>
          <p:cNvSpPr txBox="1"/>
          <p:nvPr/>
        </p:nvSpPr>
        <p:spPr>
          <a:xfrm>
            <a:off x="1325880" y="1581912"/>
            <a:ext cx="4206240" cy="365760"/>
          </a:xfrm>
          <a:prstGeom prst="rect">
            <a:avLst/>
          </a:prstGeom>
          <a:noFill/>
          <a:ln/>
        </p:spPr>
        <p:txBody>
          <a:bodyPr wrap="square" lIns="0" tIns="0" rIns="0" bIns="0" rtlCol="0" anchor="t"/>
          <a:lstStyle/>
          <a:p>
            <a:pPr indent="0" marL="0">
              <a:buNone/>
            </a:pPr>
            <a:r>
              <a:rPr lang="en-US" sz="2000" b="1" dirty="0">
                <a:solidFill>
                  <a:schemeClr val="tx1"/>
                </a:solidFill>
              </a:rPr>
              <a:t>The verdict</a:t>
            </a:r>
            <a:endParaRPr lang="en-US" sz="2000" dirty="0"/>
          </a:p>
        </p:txBody>
      </p:sp>
      <p:sp>
        <p:nvSpPr>
          <p:cNvPr id="7" name="Step 1 text"/>
          <p:cNvSpPr txBox="1"/>
          <p:nvPr/>
        </p:nvSpPr>
        <p:spPr>
          <a:xfrm>
            <a:off x="1325880" y="2011680"/>
            <a:ext cx="4297680" cy="914400"/>
          </a:xfrm>
          <a:prstGeom prst="rect">
            <a:avLst/>
          </a:prstGeom>
          <a:noFill/>
          <a:ln/>
        </p:spPr>
        <p:txBody>
          <a:bodyPr wrap="square" lIns="0" tIns="0" rIns="0" bIns="0" rtlCol="0" anchor="t"/>
          <a:lstStyle/>
          <a:p>
            <a:pPr indent="0" marL="0">
              <a:buNone/>
            </a:pPr>
            <a:r>
              <a:rPr lang="en-US" sz="1500" dirty="0">
                <a:solidFill>
                  <a:schemeClr val="tx2"/>
                </a:solidFill>
              </a:rPr>
              <a:t>The primary cause, computed from the company's own records. Same data, same answer, every time.</a:t>
            </a:r>
            <a:endParaRPr lang="en-US" sz="1500" dirty="0"/>
          </a:p>
        </p:txBody>
      </p:sp>
      <p:sp>
        <p:nvSpPr>
          <p:cNvPr id="8" name="Step 2 badge"/>
          <p:cNvSpPr/>
          <p:nvPr/>
        </p:nvSpPr>
        <p:spPr>
          <a:xfrm>
            <a:off x="548640" y="3063240"/>
            <a:ext cx="548640" cy="548640"/>
          </a:xfrm>
          <a:prstGeom prst="ellipse">
            <a:avLst/>
          </a:prstGeom>
          <a:solidFill>
            <a:schemeClr val="accent2"/>
          </a:solidFill>
          <a:ln w="12700">
            <a:solidFill>
              <a:schemeClr val="accent2"/>
            </a:solidFill>
            <a:prstDash val="solid"/>
          </a:ln>
        </p:spPr>
      </p:sp>
      <p:sp>
        <p:nvSpPr>
          <p:cNvPr id="9" name="Step 2 badge label"/>
          <p:cNvSpPr txBox="1"/>
          <p:nvPr/>
        </p:nvSpPr>
        <p:spPr>
          <a:xfrm>
            <a:off x="548640" y="3063240"/>
            <a:ext cx="548640" cy="548640"/>
          </a:xfrm>
          <a:prstGeom prst="rect">
            <a:avLst/>
          </a:prstGeom>
          <a:noFill/>
          <a:ln/>
        </p:spPr>
        <p:txBody>
          <a:bodyPr wrap="square" lIns="0" tIns="0" rIns="0" bIns="0" rtlCol="0" anchor="ctr"/>
          <a:lstStyle/>
          <a:p>
            <a:pPr algn="ctr" indent="0" marL="0">
              <a:buNone/>
            </a:pPr>
            <a:r>
              <a:rPr lang="en-US" sz="1900" b="1" dirty="0">
                <a:solidFill>
                  <a:schemeClr val="bg1"/>
                </a:solidFill>
              </a:rPr>
              <a:t>2</a:t>
            </a:r>
            <a:endParaRPr lang="en-US" sz="1900" dirty="0"/>
          </a:p>
        </p:txBody>
      </p:sp>
      <p:sp>
        <p:nvSpPr>
          <p:cNvPr id="10" name="Step 2 heading"/>
          <p:cNvSpPr txBox="1"/>
          <p:nvPr/>
        </p:nvSpPr>
        <p:spPr>
          <a:xfrm>
            <a:off x="1325880" y="3044952"/>
            <a:ext cx="4206240" cy="365760"/>
          </a:xfrm>
          <a:prstGeom prst="rect">
            <a:avLst/>
          </a:prstGeom>
          <a:noFill/>
          <a:ln/>
        </p:spPr>
        <p:txBody>
          <a:bodyPr wrap="square" lIns="0" tIns="0" rIns="0" bIns="0" rtlCol="0" anchor="t"/>
          <a:lstStyle/>
          <a:p>
            <a:pPr indent="0" marL="0">
              <a:buNone/>
            </a:pPr>
            <a:r>
              <a:rPr lang="en-US" sz="2000" b="1" dirty="0">
                <a:solidFill>
                  <a:schemeClr val="tx1"/>
                </a:solidFill>
              </a:rPr>
              <a:t>The reasoning</a:t>
            </a:r>
            <a:endParaRPr lang="en-US" sz="2000" dirty="0"/>
          </a:p>
        </p:txBody>
      </p:sp>
      <p:sp>
        <p:nvSpPr>
          <p:cNvPr id="11" name="Step 2 text"/>
          <p:cNvSpPr txBox="1"/>
          <p:nvPr/>
        </p:nvSpPr>
        <p:spPr>
          <a:xfrm>
            <a:off x="1325880" y="3474720"/>
            <a:ext cx="4297680" cy="914400"/>
          </a:xfrm>
          <a:prstGeom prst="rect">
            <a:avLst/>
          </a:prstGeom>
          <a:noFill/>
          <a:ln/>
        </p:spPr>
        <p:txBody>
          <a:bodyPr wrap="square" lIns="0" tIns="0" rIns="0" bIns="0" rtlCol="0" anchor="t"/>
          <a:lstStyle/>
          <a:p>
            <a:pPr indent="0" marL="0">
              <a:buNone/>
            </a:pPr>
            <a:r>
              <a:rPr lang="en-US" sz="1500" dirty="0">
                <a:solidFill>
                  <a:schemeClr val="tx2"/>
                </a:solidFill>
              </a:rPr>
              <a:t>Every candidate cause tested and marked supported or ruled out, with the numbers that decided it.</a:t>
            </a:r>
            <a:endParaRPr lang="en-US" sz="1500" dirty="0"/>
          </a:p>
        </p:txBody>
      </p:sp>
      <p:sp>
        <p:nvSpPr>
          <p:cNvPr id="12" name="Step 3 badge"/>
          <p:cNvSpPr/>
          <p:nvPr/>
        </p:nvSpPr>
        <p:spPr>
          <a:xfrm>
            <a:off x="548640" y="4526280"/>
            <a:ext cx="548640" cy="548640"/>
          </a:xfrm>
          <a:prstGeom prst="ellipse">
            <a:avLst/>
          </a:prstGeom>
          <a:solidFill>
            <a:schemeClr val="accent3"/>
          </a:solidFill>
          <a:ln w="12700">
            <a:solidFill>
              <a:schemeClr val="accent3"/>
            </a:solidFill>
            <a:prstDash val="solid"/>
          </a:ln>
        </p:spPr>
      </p:sp>
      <p:sp>
        <p:nvSpPr>
          <p:cNvPr id="13" name="Step 3 badge label"/>
          <p:cNvSpPr txBox="1"/>
          <p:nvPr/>
        </p:nvSpPr>
        <p:spPr>
          <a:xfrm>
            <a:off x="548640" y="4526280"/>
            <a:ext cx="548640" cy="548640"/>
          </a:xfrm>
          <a:prstGeom prst="rect">
            <a:avLst/>
          </a:prstGeom>
          <a:noFill/>
          <a:ln/>
        </p:spPr>
        <p:txBody>
          <a:bodyPr wrap="square" lIns="0" tIns="0" rIns="0" bIns="0" rtlCol="0" anchor="ctr"/>
          <a:lstStyle/>
          <a:p>
            <a:pPr algn="ctr" indent="0" marL="0">
              <a:buNone/>
            </a:pPr>
            <a:r>
              <a:rPr lang="en-US" sz="1900" b="1" dirty="0">
                <a:solidFill>
                  <a:schemeClr val="bg1"/>
                </a:solidFill>
              </a:rPr>
              <a:t>3</a:t>
            </a:r>
            <a:endParaRPr lang="en-US" sz="1900" dirty="0"/>
          </a:p>
        </p:txBody>
      </p:sp>
      <p:sp>
        <p:nvSpPr>
          <p:cNvPr id="14" name="Step 3 heading"/>
          <p:cNvSpPr txBox="1"/>
          <p:nvPr/>
        </p:nvSpPr>
        <p:spPr>
          <a:xfrm>
            <a:off x="1325880" y="4507992"/>
            <a:ext cx="4206240" cy="365760"/>
          </a:xfrm>
          <a:prstGeom prst="rect">
            <a:avLst/>
          </a:prstGeom>
          <a:noFill/>
          <a:ln/>
        </p:spPr>
        <p:txBody>
          <a:bodyPr wrap="square" lIns="0" tIns="0" rIns="0" bIns="0" rtlCol="0" anchor="t"/>
          <a:lstStyle/>
          <a:p>
            <a:pPr indent="0" marL="0">
              <a:buNone/>
            </a:pPr>
            <a:r>
              <a:rPr lang="en-US" sz="2000" b="1" dirty="0">
                <a:solidFill>
                  <a:schemeClr val="tx1"/>
                </a:solidFill>
              </a:rPr>
              <a:t>The evidence</a:t>
            </a:r>
            <a:endParaRPr lang="en-US" sz="2000" dirty="0"/>
          </a:p>
        </p:txBody>
      </p:sp>
      <p:sp>
        <p:nvSpPr>
          <p:cNvPr id="15" name="Step 3 text"/>
          <p:cNvSpPr txBox="1"/>
          <p:nvPr/>
        </p:nvSpPr>
        <p:spPr>
          <a:xfrm>
            <a:off x="1325880" y="4937760"/>
            <a:ext cx="4297680" cy="914400"/>
          </a:xfrm>
          <a:prstGeom prst="rect">
            <a:avLst/>
          </a:prstGeom>
          <a:noFill/>
          <a:ln/>
        </p:spPr>
        <p:txBody>
          <a:bodyPr wrap="square" lIns="0" tIns="0" rIns="0" bIns="0" rtlCol="0" anchor="t"/>
          <a:lstStyle/>
          <a:p>
            <a:pPr indent="0" marL="0">
              <a:buNone/>
            </a:pPr>
            <a:r>
              <a:rPr lang="en-US" sz="1500" dirty="0">
                <a:solidFill>
                  <a:schemeClr val="tx2"/>
                </a:solidFill>
              </a:rPr>
              <a:t>The SQL, row count and result hash behind each claim, so anyone can re-run it in Zetaris.</a:t>
            </a:r>
            <a:endParaRPr lang="en-US" sz="1500" dirty="0"/>
          </a:p>
        </p:txBody>
      </p:sp>
      <p:sp>
        <p:nvSpPr>
          <p:cNvPr id="16" name="Report caption"/>
          <p:cNvSpPr txBox="1"/>
          <p:nvPr/>
        </p:nvSpPr>
        <p:spPr>
          <a:xfrm>
            <a:off x="6126480" y="1371600"/>
            <a:ext cx="5486400" cy="274320"/>
          </a:xfrm>
          <a:prstGeom prst="rect">
            <a:avLst/>
          </a:prstGeom>
          <a:noFill/>
          <a:ln/>
        </p:spPr>
        <p:txBody>
          <a:bodyPr wrap="square" lIns="0" tIns="0" rIns="0" bIns="0" rtlCol="0" anchor="t"/>
          <a:lstStyle/>
          <a:p>
            <a:pPr indent="0" marL="0">
              <a:buNone/>
            </a:pPr>
            <a:r>
              <a:rPr lang="en-US" sz="1100" i="1" dirty="0">
                <a:solidFill>
                  <a:schemeClr val="tx2"/>
                </a:solidFill>
              </a:rPr>
              <a:t>From the live report for SKU-1041 (abridged)</a:t>
            </a:r>
            <a:endParaRPr lang="en-US" sz="1100" dirty="0"/>
          </a:p>
        </p:txBody>
      </p:sp>
      <p:sp>
        <p:nvSpPr>
          <p:cNvPr id="17" name="Report panel"/>
          <p:cNvSpPr/>
          <p:nvPr/>
        </p:nvSpPr>
        <p:spPr>
          <a:xfrm>
            <a:off x="6126480" y="1691640"/>
            <a:ext cx="5486400" cy="3886200"/>
          </a:xfrm>
          <a:prstGeom prst="roundRect">
            <a:avLst>
              <a:gd name="adj" fmla="val 2824"/>
            </a:avLst>
          </a:prstGeom>
          <a:solidFill>
            <a:schemeClr val="bg2"/>
          </a:solidFill>
          <a:ln w="12700">
            <a:solidFill>
              <a:schemeClr val="bg2"/>
            </a:solidFill>
            <a:prstDash val="solid"/>
          </a:ln>
        </p:spPr>
      </p:sp>
      <p:sp>
        <p:nvSpPr>
          <p:cNvPr id="18" name="Report panel text"/>
          <p:cNvSpPr txBox="1"/>
          <p:nvPr/>
        </p:nvSpPr>
        <p:spPr>
          <a:xfrm>
            <a:off x="6355080" y="1892808"/>
            <a:ext cx="5120640" cy="35204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latin typeface="Consolas" pitchFamily="34" charset="0"/>
                <a:ea typeface="Consolas" pitchFamily="34" charset="-122"/>
                <a:cs typeface="Consolas" pitchFamily="34" charset="-120"/>
              </a:rPr>
              <a:t>WHY DID SKU-1041 RUN OUT?</a:t>
            </a:r>
            <a:endParaRPr lang="en-US" sz="1400" dirty="0"/>
          </a:p>
          <a:p>
            <a:pPr indent="0" marL="0">
              <a:spcAft>
                <a:spcPts val="200"/>
              </a:spcAft>
              <a:buNone/>
            </a:pPr>
            <a:r>
              <a:rPr lang="en-US" sz="1400" dirty="0">
                <a:solidFill>
                  <a:schemeClr val="tx2"/>
                </a:solidFill>
                <a:latin typeface="Consolas" pitchFamily="34" charset="0"/>
                <a:ea typeface="Consolas" pitchFamily="34" charset="-122"/>
                <a:cs typeface="Consolas" pitchFamily="34" charset="-120"/>
              </a:rPr>
              <a:t>Stock reached zero on 2026-09-03 for 8 days.</a:t>
            </a:r>
            <a:endParaRPr lang="en-US" sz="1400" dirty="0"/>
          </a:p>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indent="0" marL="0">
              <a:spcAft>
                <a:spcPts val="200"/>
              </a:spcAft>
              <a:buNone/>
            </a:pPr>
            <a:r>
              <a:rPr lang="en-US" sz="1400" b="1" dirty="0">
                <a:solidFill>
                  <a:schemeClr val="accent1"/>
                </a:solidFill>
                <a:latin typeface="Consolas" pitchFamily="34" charset="0"/>
                <a:ea typeface="Consolas" pitchFamily="34" charset="-122"/>
                <a:cs typeface="Consolas" pitchFamily="34" charset="-120"/>
              </a:rPr>
              <a:t>PRIMARY CAUSE</a:t>
            </a:r>
            <a:endParaRPr lang="en-US" sz="1400" dirty="0"/>
          </a:p>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PO-506 took 19 days against a quoted 7.</a:t>
            </a:r>
            <a:endParaRPr lang="en-US" sz="1400" dirty="0"/>
          </a:p>
          <a:p>
            <a:pPr indent="0" marL="0">
              <a:spcAft>
                <a:spcPts val="200"/>
              </a:spcAft>
              <a:buNone/>
            </a:pPr>
            <a:r>
              <a:rPr lang="en-US" sz="1400" dirty="0">
                <a:solidFill>
                  <a:schemeClr val="tx2"/>
                </a:solidFill>
                <a:latin typeface="Consolas" pitchFamily="34" charset="0"/>
                <a:ea typeface="Consolas" pitchFamily="34" charset="-122"/>
                <a:cs typeface="Consolas" pitchFamily="34" charset="-120"/>
              </a:rPr>
              <a:t>  Repairing it alone prevents the stockout.</a:t>
            </a:r>
            <a:endParaRPr lang="en-US" sz="1400" dirty="0"/>
          </a:p>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indent="0" marL="0">
              <a:spcAft>
                <a:spcPts val="200"/>
              </a:spcAft>
              <a:buNone/>
            </a:pPr>
            <a:r>
              <a:rPr lang="en-US" sz="1400" dirty="0">
                <a:solidFill>
                  <a:schemeClr val="accent2"/>
                </a:solidFill>
                <a:latin typeface="Consolas" pitchFamily="34" charset="0"/>
                <a:ea typeface="Consolas" pitchFamily="34" charset="-122"/>
                <a:cs typeface="Consolas" pitchFamily="34" charset="-120"/>
              </a:rPr>
              <a:t>[supported] Delivery 12 days past its promise</a:t>
            </a:r>
            <a:endParaRPr lang="en-US" sz="1400" dirty="0"/>
          </a:p>
          <a:p>
            <a:pPr indent="0" marL="0">
              <a:spcAft>
                <a:spcPts val="200"/>
              </a:spcAft>
              <a:buNone/>
            </a:pPr>
            <a:r>
              <a:rPr lang="en-US" sz="1400" dirty="0">
                <a:solidFill>
                  <a:schemeClr val="accent2"/>
                </a:solidFill>
                <a:latin typeface="Consolas" pitchFamily="34" charset="0"/>
                <a:ea typeface="Consolas" pitchFamily="34" charset="-122"/>
                <a:cs typeface="Consolas" pitchFamily="34" charset="-120"/>
              </a:rPr>
              <a:t>[supported] Demand rose 1.20x, not sufficient</a:t>
            </a:r>
            <a:endParaRPr lang="en-US" sz="1400" dirty="0"/>
          </a:p>
          <a:p>
            <a:pPr indent="0" marL="0">
              <a:spcAft>
                <a:spcPts val="200"/>
              </a:spcAft>
              <a:buNone/>
            </a:pPr>
            <a:r>
              <a:rPr lang="en-US" sz="1400" dirty="0">
                <a:solidFill>
                  <a:schemeClr val="accent6"/>
                </a:solidFill>
                <a:latin typeface="Consolas" pitchFamily="34" charset="0"/>
                <a:ea typeface="Consolas" pitchFamily="34" charset="-122"/>
                <a:cs typeface="Consolas" pitchFamily="34" charset="-120"/>
              </a:rPr>
              <a:t>[ruled out] Reorder point too low</a:t>
            </a:r>
            <a:endParaRPr lang="en-US" sz="1400" dirty="0"/>
          </a:p>
          <a:p>
            <a:pPr indent="0" marL="0">
              <a:spcAft>
                <a:spcPts val="200"/>
              </a:spcAft>
              <a:buNone/>
            </a:pPr>
            <a:r>
              <a:rPr lang="en-US" sz="1400" dirty="0">
                <a:solidFill>
                  <a:schemeClr val="accent6"/>
                </a:solidFill>
                <a:latin typeface="Consolas" pitchFamily="34" charset="0"/>
                <a:ea typeface="Consolas" pitchFamily="34" charset="-122"/>
                <a:cs typeface="Consolas" pitchFamily="34" charset="-120"/>
              </a:rPr>
              <a:t>[ruled out] Order raised late</a:t>
            </a:r>
            <a:endParaRPr lang="en-US" sz="1400" dirty="0"/>
          </a:p>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a:t>
            </a:r>
            <a:endParaRPr lang="en-US" sz="1400" dirty="0"/>
          </a:p>
          <a:p>
            <a:pPr indent="0" marL="0">
              <a:spcAft>
                <a:spcPts val="200"/>
              </a:spcAft>
              <a:buNone/>
            </a:pPr>
            <a:r>
              <a:rPr lang="en-US" sz="1400" dirty="0">
                <a:solidFill>
                  <a:schemeClr val="accent3"/>
                </a:solidFill>
                <a:latin typeface="Consolas" pitchFamily="34" charset="0"/>
                <a:ea typeface="Consolas" pitchFamily="34" charset="-122"/>
                <a:cs typeface="Consolas" pitchFamily="34" charset="-120"/>
              </a:rPr>
              <a:t>E1  On-hand stock, SKU-1041: 180 rows, b4dc2ddd8aa8</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HOW IT DECIDES</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Counterfactuals, not weights</a:t>
            </a:r>
            <a:endParaRPr lang="en-US" sz="3400" dirty="0"/>
          </a:p>
        </p:txBody>
      </p:sp>
      <p:sp>
        <p:nvSpPr>
          <p:cNvPr id="4" name="Method text"/>
          <p:cNvSpPr txBox="1"/>
          <p:nvPr/>
        </p:nvSpPr>
        <p:spPr>
          <a:xfrm>
            <a:off x="548640" y="1554480"/>
            <a:ext cx="3566160" cy="2926080"/>
          </a:xfrm>
          <a:prstGeom prst="rect">
            <a:avLst/>
          </a:prstGeom>
          <a:noFill/>
          <a:ln/>
        </p:spPr>
        <p:txBody>
          <a:bodyPr wrap="square" lIns="0" tIns="0" rIns="0" bIns="0" rtlCol="0" anchor="t"/>
          <a:lstStyle/>
          <a:p>
            <a:pPr indent="0" marL="0">
              <a:spcAft>
                <a:spcPts val="1200"/>
              </a:spcAft>
              <a:buNone/>
            </a:pPr>
            <a:r>
              <a:rPr lang="en-US" sz="1600" dirty="0">
                <a:solidFill>
                  <a:schemeClr val="tx1"/>
                </a:solidFill>
              </a:rPr>
              <a:t>The agent replays the stock history with one cause repaired at a time.</a:t>
            </a:r>
            <a:endParaRPr lang="en-US" sz="1600" dirty="0"/>
          </a:p>
          <a:p>
            <a:pPr indent="0" marL="0">
              <a:spcAft>
                <a:spcPts val="1200"/>
              </a:spcAft>
              <a:buNone/>
            </a:pPr>
            <a:r>
              <a:rPr lang="en-US" sz="1600" dirty="0">
                <a:solidFill>
                  <a:schemeClr val="tx1"/>
                </a:solidFill>
              </a:rPr>
              <a:t>The primary cause is the one whose repair alone would have prevented the stockout.</a:t>
            </a:r>
            <a:endParaRPr lang="en-US" sz="1600" dirty="0"/>
          </a:p>
          <a:p>
            <a:pPr indent="0" marL="0">
              <a:spcAft>
                <a:spcPts val="1200"/>
              </a:spcAft>
              <a:buNone/>
            </a:pPr>
            <a:r>
              <a:rPr lang="en-US" sz="1600" dirty="0">
                <a:solidFill>
                  <a:schemeClr val="tx1"/>
                </a:solidFill>
              </a:rPr>
              <a:t>Contributing causes are real but not sufficient; the rest are ruled out, with numbers.</a:t>
            </a:r>
            <a:endParaRPr lang="en-US" sz="1600" dirty="0"/>
          </a:p>
        </p:txBody>
      </p:sp>
      <p:sp>
        <p:nvSpPr>
          <p:cNvPr id="5" name="Lead time stat"/>
          <p:cNvSpPr txBox="1"/>
          <p:nvPr/>
        </p:nvSpPr>
        <p:spPr>
          <a:xfrm>
            <a:off x="548640" y="4617720"/>
            <a:ext cx="3566160" cy="777240"/>
          </a:xfrm>
          <a:prstGeom prst="rect">
            <a:avLst/>
          </a:prstGeom>
          <a:noFill/>
          <a:ln/>
        </p:spPr>
        <p:txBody>
          <a:bodyPr wrap="square" lIns="0" tIns="0" rIns="0" bIns="0" rtlCol="0" anchor="t"/>
          <a:lstStyle/>
          <a:p>
            <a:pPr indent="0" marL="0">
              <a:buNone/>
            </a:pPr>
            <a:r>
              <a:rPr lang="en-US" sz="4800" b="1" dirty="0">
                <a:solidFill>
                  <a:schemeClr val="accent1"/>
                </a:solidFill>
              </a:rPr>
              <a:t>19 days</a:t>
            </a:r>
            <a:endParaRPr lang="en-US" sz="4800" dirty="0"/>
          </a:p>
        </p:txBody>
      </p:sp>
      <p:sp>
        <p:nvSpPr>
          <p:cNvPr id="6" name="Lead time label"/>
          <p:cNvSpPr txBox="1"/>
          <p:nvPr/>
        </p:nvSpPr>
        <p:spPr>
          <a:xfrm>
            <a:off x="548640" y="5394960"/>
            <a:ext cx="3566160" cy="365760"/>
          </a:xfrm>
          <a:prstGeom prst="rect">
            <a:avLst/>
          </a:prstGeom>
          <a:noFill/>
          <a:ln/>
        </p:spPr>
        <p:txBody>
          <a:bodyPr wrap="square" lIns="0" tIns="0" rIns="0" bIns="0" rtlCol="0" anchor="t"/>
          <a:lstStyle/>
          <a:p>
            <a:pPr indent="0" marL="0">
              <a:buNone/>
            </a:pPr>
            <a:r>
              <a:rPr lang="en-US" sz="1300" dirty="0">
                <a:solidFill>
                  <a:schemeClr val="tx2"/>
                </a:solidFill>
              </a:rPr>
              <a:t>PO-506's lead time, against a quoted 7</a:t>
            </a:r>
            <a:endParaRPr lang="en-US" sz="1300" dirty="0"/>
          </a:p>
        </p:txBody>
      </p:sp>
      <p:graphicFrame>
        <p:nvGraphicFramePr>
          <p:cNvPr id="5" name="Cause table"/>
          <p:cNvGraphicFramePr>
            <a:graphicFrameLocks noGrp="1"/>
          </p:cNvGraphicFramePr>
          <p:nvPr>
            <p:extLst>
              <p:ext uri="{D42A27DB-BD31-4B8C-83A1-F6EECF244321}">
                <p14:modId xmlns:p14="http://schemas.microsoft.com/office/powerpoint/2010/main" val="1579011935"/>
              </p:ext>
            </p:extLst>
          </p:nvPr>
        </p:nvGraphicFramePr>
        <p:xfrm>
          <a:off x="4434840" y="1554480"/>
          <a:ext cx="7178040" cy="914400"/>
        </p:xfrm>
        <a:graphic>
          <a:graphicData uri="http://schemas.openxmlformats.org/drawingml/2006/table">
            <a:tbl>
              <a:tblPr/>
              <a:tblGrid>
                <a:gridCol w="2240280"/>
                <a:gridCol w="3657600"/>
                <a:gridCol w="1280160"/>
              </a:tblGrid>
              <a:tr h="713232">
                <a:tc>
                  <a:txBody>
                    <a:bodyPr/>
                    <a:lstStyle/>
                    <a:p>
                      <a:pPr indent="0" marL="0">
                        <a:buNone/>
                      </a:pPr>
                      <a:r>
                        <a:rPr lang="en-US" sz="1300" b="1" dirty="0">
                          <a:solidFill>
                            <a:schemeClr val="accent1"/>
                          </a:solidFill>
                        </a:rPr>
                        <a:t>Cause tested</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What the records show</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rPr>
                        <a:t>Verdict</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chemeClr val="bg2"/>
                    </a:solidFill>
                  </a:tcPr>
                </a:tc>
              </a:tr>
              <a:tr h="713232">
                <a:tc>
                  <a:txBody>
                    <a:bodyPr/>
                    <a:lstStyle/>
                    <a:p>
                      <a:pPr indent="0" marL="0">
                        <a:buNone/>
                      </a:pPr>
                      <a:r>
                        <a:rPr lang="en-US" sz="1300" dirty="0">
                          <a:solidFill>
                            <a:schemeClr val="tx1"/>
                          </a:solidFill>
                        </a:rPr>
                        <a:t>Supplier took longer than its quoted lead time</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300" dirty="0">
                          <a:solidFill>
                            <a:schemeClr val="tx1"/>
                          </a:solidFill>
                        </a:rPr>
                        <a:t>19 days against a quoted 7. Arriving in 7 days (2026-08-30) avoids the stockout</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300" b="1" dirty="0">
                          <a:solidFill>
                            <a:schemeClr val="accent1"/>
                          </a:solidFill>
                        </a:rPr>
                        <a:t>Primary</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r>
              <a:tr h="713232">
                <a:tc>
                  <a:txBody>
                    <a:bodyPr/>
                    <a:lstStyle/>
                    <a:p>
                      <a:pPr indent="0" marL="0">
                        <a:buNone/>
                      </a:pPr>
                      <a:r>
                        <a:rPr lang="en-US" sz="1300" dirty="0">
                          <a:solidFill>
                            <a:schemeClr val="tx1"/>
                          </a:solidFill>
                        </a:rPr>
                        <a:t>Delivery missed its promised date</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300" dirty="0">
                          <a:solidFill>
                            <a:schemeClr val="tx1"/>
                          </a:solidFill>
                        </a:rPr>
                        <a:t>Promised 2026-08-30, arrived 2026-09-11: 12 days late</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300" b="1" dirty="0">
                          <a:solidFill>
                            <a:schemeClr val="accent2"/>
                          </a:solidFill>
                        </a:rPr>
                        <a:t>Contributing</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r>
              <a:tr h="713232">
                <a:tc>
                  <a:txBody>
                    <a:bodyPr/>
                    <a:lstStyle/>
                    <a:p>
                      <a:pPr indent="0" marL="0">
                        <a:buNone/>
                      </a:pPr>
                      <a:r>
                        <a:rPr lang="en-US" sz="1300" dirty="0">
                          <a:solidFill>
                            <a:schemeClr val="tx1"/>
                          </a:solidFill>
                        </a:rPr>
                        <a:t>Demand rose before the stockout</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300" dirty="0">
                          <a:solidFill>
                            <a:schemeClr val="tx1"/>
                          </a:solidFill>
                        </a:rPr>
                        <a:t>32.8 vs 27.5 units/day (1.20x, under the 1.5 spike line). The shelf empties even at the lower rate</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300" b="1" dirty="0">
                          <a:solidFill>
                            <a:schemeClr val="accent2"/>
                          </a:solidFill>
                        </a:rPr>
                        <a:t>Contributing</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r>
              <a:tr h="713232">
                <a:tc>
                  <a:txBody>
                    <a:bodyPr/>
                    <a:lstStyle/>
                    <a:p>
                      <a:pPr indent="0" marL="0">
                        <a:buNone/>
                      </a:pPr>
                      <a:r>
                        <a:rPr lang="en-US" sz="1300" dirty="0">
                          <a:solidFill>
                            <a:schemeClr val="tx1"/>
                          </a:solidFill>
                        </a:rPr>
                        <a:t>Reorder point too low</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300" dirty="0">
                          <a:solidFill>
                            <a:schemeClr val="tx1"/>
                          </a:solidFill>
                        </a:rPr>
                        <a:t>336 units covers 7 days at 32.8/day (230 needed)</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300" b="1" dirty="0">
                          <a:solidFill>
                            <a:schemeClr val="accent6"/>
                          </a:solidFill>
                        </a:rPr>
                        <a:t>Ruled out</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r>
              <a:tr h="713232">
                <a:tc>
                  <a:txBody>
                    <a:bodyPr/>
                    <a:lstStyle/>
                    <a:p>
                      <a:pPr indent="0" marL="0">
                        <a:buNone/>
                      </a:pPr>
                      <a:r>
                        <a:rPr lang="en-US" sz="1300" dirty="0">
                          <a:solidFill>
                            <a:schemeClr val="tx1"/>
                          </a:solidFill>
                        </a:rPr>
                        <a:t>No order raised at the reorder point</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300" dirty="0">
                          <a:solidFill>
                            <a:schemeClr val="tx1"/>
                          </a:solidFill>
                        </a:rPr>
                        <a:t>Crossed on 2026-08-23; PO-506 raised the same day</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c>
                  <a:txBody>
                    <a:bodyPr/>
                    <a:lstStyle/>
                    <a:p>
                      <a:pPr indent="0" marL="0">
                        <a:buNone/>
                      </a:pPr>
                      <a:r>
                        <a:rPr lang="en-US" sz="1300" b="1" dirty="0">
                          <a:solidFill>
                            <a:schemeClr val="accent6"/>
                          </a:solidFill>
                        </a:rPr>
                        <a:t>Ruled out</a:t>
                      </a:r>
                      <a:endParaRPr lang="en-US" sz="1300" dirty="0"/>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tx2"/>
                </a:solidFill>
              </a:rPr>
              <a:t>ARCHITECTURE</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Four layers, one door to the data</a:t>
            </a:r>
            <a:endParaRPr lang="en-US" sz="3400" dirty="0"/>
          </a:p>
        </p:txBody>
      </p:sp>
      <p:sp>
        <p:nvSpPr>
          <p:cNvPr id="4" name="DATA card"/>
          <p:cNvSpPr/>
          <p:nvPr/>
        </p:nvSpPr>
        <p:spPr>
          <a:xfrm>
            <a:off x="548640" y="1600200"/>
            <a:ext cx="2560320" cy="3246120"/>
          </a:xfrm>
          <a:prstGeom prst="roundRect">
            <a:avLst>
              <a:gd name="adj" fmla="val 4286"/>
            </a:avLst>
          </a:prstGeom>
          <a:solidFill>
            <a:schemeClr val="bg2"/>
          </a:solidFill>
          <a:ln w="12700">
            <a:solidFill>
              <a:schemeClr val="bg2"/>
            </a:solidFill>
            <a:prstDash val="solid"/>
          </a:ln>
        </p:spPr>
      </p:sp>
      <p:sp>
        <p:nvSpPr>
          <p:cNvPr id="5" name="DATA pill"/>
          <p:cNvSpPr/>
          <p:nvPr/>
        </p:nvSpPr>
        <p:spPr>
          <a:xfrm>
            <a:off x="822960" y="1874520"/>
            <a:ext cx="663489" cy="347472"/>
          </a:xfrm>
          <a:prstGeom prst="roundRect">
            <a:avLst>
              <a:gd name="adj" fmla="val 50000"/>
            </a:avLst>
          </a:prstGeom>
          <a:solidFill>
            <a:schemeClr val="accent3"/>
          </a:solidFill>
          <a:ln w="12700">
            <a:solidFill>
              <a:schemeClr val="accent3"/>
            </a:solidFill>
            <a:prstDash val="solid"/>
          </a:ln>
        </p:spPr>
      </p:sp>
      <p:sp>
        <p:nvSpPr>
          <p:cNvPr id="6" name="DATA pill label"/>
          <p:cNvSpPr txBox="1"/>
          <p:nvPr/>
        </p:nvSpPr>
        <p:spPr>
          <a:xfrm>
            <a:off x="822960" y="1874520"/>
            <a:ext cx="663489" cy="347472"/>
          </a:xfrm>
          <a:prstGeom prst="rect">
            <a:avLst/>
          </a:prstGeom>
          <a:noFill/>
          <a:ln/>
        </p:spPr>
        <p:txBody>
          <a:bodyPr wrap="square" lIns="0" tIns="0" rIns="0" bIns="0" rtlCol="0" anchor="ctr"/>
          <a:lstStyle/>
          <a:p>
            <a:pPr algn="ctr" indent="0" marL="0">
              <a:buNone/>
            </a:pPr>
            <a:r>
              <a:rPr lang="en-US" sz="1300" b="1" dirty="0">
                <a:solidFill>
                  <a:schemeClr val="bg1"/>
                </a:solidFill>
              </a:rPr>
              <a:t>DATA</a:t>
            </a:r>
            <a:endParaRPr lang="en-US" sz="1300" dirty="0"/>
          </a:p>
        </p:txBody>
      </p:sp>
      <p:sp>
        <p:nvSpPr>
          <p:cNvPr id="7" name="DATA name"/>
          <p:cNvSpPr txBox="1"/>
          <p:nvPr/>
        </p:nvSpPr>
        <p:spPr>
          <a:xfrm>
            <a:off x="822960" y="2423160"/>
            <a:ext cx="2103120" cy="365760"/>
          </a:xfrm>
          <a:prstGeom prst="rect">
            <a:avLst/>
          </a:prstGeom>
          <a:noFill/>
          <a:ln/>
        </p:spPr>
        <p:txBody>
          <a:bodyPr wrap="square" lIns="0" tIns="0" rIns="0" bIns="0" rtlCol="0" anchor="t"/>
          <a:lstStyle/>
          <a:p>
            <a:pPr indent="0" marL="0">
              <a:buNone/>
            </a:pPr>
            <a:r>
              <a:rPr lang="en-US" sz="2000" b="1" dirty="0">
                <a:solidFill>
                  <a:schemeClr val="tx1"/>
                </a:solidFill>
              </a:rPr>
              <a:t>Zetaris</a:t>
            </a:r>
            <a:endParaRPr lang="en-US" sz="2000" dirty="0"/>
          </a:p>
        </p:txBody>
      </p:sp>
      <p:sp>
        <p:nvSpPr>
          <p:cNvPr id="8" name="DATA text"/>
          <p:cNvSpPr txBox="1"/>
          <p:nvPr/>
        </p:nvSpPr>
        <p:spPr>
          <a:xfrm>
            <a:off x="822960" y="3154680"/>
            <a:ext cx="2103120" cy="1600200"/>
          </a:xfrm>
          <a:prstGeom prst="rect">
            <a:avLst/>
          </a:prstGeom>
          <a:noFill/>
          <a:ln/>
        </p:spPr>
        <p:txBody>
          <a:bodyPr wrap="square" lIns="0" tIns="0" rIns="0" bIns="0" rtlCol="0" anchor="t"/>
          <a:lstStyle/>
          <a:p>
            <a:pPr indent="0" marL="0">
              <a:buNone/>
            </a:pPr>
            <a:r>
              <a:rPr lang="en-US" sz="1500" dirty="0">
                <a:solidFill>
                  <a:schemeClr val="tx2"/>
                </a:solidFill>
              </a:rPr>
              <a:t>Six retail tables, federated as one datasource. Seven fixed, read-only queries; every read is an evidence record.</a:t>
            </a:r>
            <a:endParaRPr lang="en-US" sz="1500" dirty="0"/>
          </a:p>
        </p:txBody>
      </p:sp>
      <p:sp>
        <p:nvSpPr>
          <p:cNvPr id="9" name="Arrow 1"/>
          <p:cNvSpPr/>
          <p:nvPr/>
        </p:nvSpPr>
        <p:spPr>
          <a:xfrm>
            <a:off x="3145536" y="3081528"/>
            <a:ext cx="201168" cy="274320"/>
          </a:xfrm>
          <a:prstGeom prst="rightArrow">
            <a:avLst/>
          </a:prstGeom>
          <a:solidFill>
            <a:schemeClr val="tx2"/>
          </a:solidFill>
          <a:ln w="12700">
            <a:solidFill>
              <a:schemeClr val="tx2"/>
            </a:solidFill>
            <a:prstDash val="solid"/>
          </a:ln>
        </p:spPr>
      </p:sp>
      <p:sp>
        <p:nvSpPr>
          <p:cNvPr id="10" name="CORE card"/>
          <p:cNvSpPr/>
          <p:nvPr/>
        </p:nvSpPr>
        <p:spPr>
          <a:xfrm>
            <a:off x="3383280" y="1600200"/>
            <a:ext cx="2560320" cy="3246120"/>
          </a:xfrm>
          <a:prstGeom prst="roundRect">
            <a:avLst>
              <a:gd name="adj" fmla="val 4286"/>
            </a:avLst>
          </a:prstGeom>
          <a:solidFill>
            <a:schemeClr val="bg2"/>
          </a:solidFill>
          <a:ln w="12700">
            <a:solidFill>
              <a:schemeClr val="bg2"/>
            </a:solidFill>
            <a:prstDash val="solid"/>
          </a:ln>
        </p:spPr>
      </p:sp>
      <p:sp>
        <p:nvSpPr>
          <p:cNvPr id="11" name="CORE pill"/>
          <p:cNvSpPr/>
          <p:nvPr/>
        </p:nvSpPr>
        <p:spPr>
          <a:xfrm>
            <a:off x="3657600" y="1874520"/>
            <a:ext cx="663489" cy="347472"/>
          </a:xfrm>
          <a:prstGeom prst="roundRect">
            <a:avLst>
              <a:gd name="adj" fmla="val 50000"/>
            </a:avLst>
          </a:prstGeom>
          <a:solidFill>
            <a:schemeClr val="accent1"/>
          </a:solidFill>
          <a:ln w="12700">
            <a:solidFill>
              <a:schemeClr val="accent1"/>
            </a:solidFill>
            <a:prstDash val="solid"/>
          </a:ln>
        </p:spPr>
      </p:sp>
      <p:sp>
        <p:nvSpPr>
          <p:cNvPr id="12" name="CORE pill label"/>
          <p:cNvSpPr txBox="1"/>
          <p:nvPr/>
        </p:nvSpPr>
        <p:spPr>
          <a:xfrm>
            <a:off x="3657600" y="1874520"/>
            <a:ext cx="663489" cy="347472"/>
          </a:xfrm>
          <a:prstGeom prst="rect">
            <a:avLst/>
          </a:prstGeom>
          <a:noFill/>
          <a:ln/>
        </p:spPr>
        <p:txBody>
          <a:bodyPr wrap="square" lIns="0" tIns="0" rIns="0" bIns="0" rtlCol="0" anchor="ctr"/>
          <a:lstStyle/>
          <a:p>
            <a:pPr algn="ctr" indent="0" marL="0">
              <a:buNone/>
            </a:pPr>
            <a:r>
              <a:rPr lang="en-US" sz="1300" b="1" dirty="0">
                <a:solidFill>
                  <a:schemeClr val="bg1"/>
                </a:solidFill>
              </a:rPr>
              <a:t>CORE</a:t>
            </a:r>
            <a:endParaRPr lang="en-US" sz="1300" dirty="0"/>
          </a:p>
        </p:txBody>
      </p:sp>
      <p:sp>
        <p:nvSpPr>
          <p:cNvPr id="13" name="CORE name"/>
          <p:cNvSpPr txBox="1"/>
          <p:nvPr/>
        </p:nvSpPr>
        <p:spPr>
          <a:xfrm>
            <a:off x="3657600" y="2423160"/>
            <a:ext cx="2103120" cy="365760"/>
          </a:xfrm>
          <a:prstGeom prst="rect">
            <a:avLst/>
          </a:prstGeom>
          <a:noFill/>
          <a:ln/>
        </p:spPr>
        <p:txBody>
          <a:bodyPr wrap="square" lIns="0" tIns="0" rIns="0" bIns="0" rtlCol="0" anchor="t"/>
          <a:lstStyle/>
          <a:p>
            <a:pPr indent="0" marL="0">
              <a:buNone/>
            </a:pPr>
            <a:r>
              <a:rPr lang="en-US" sz="2000" b="1" dirty="0">
                <a:solidFill>
                  <a:schemeClr val="tx1"/>
                </a:solidFill>
              </a:rPr>
              <a:t>Counterfactual replay</a:t>
            </a:r>
            <a:endParaRPr lang="en-US" sz="2000" dirty="0"/>
          </a:p>
        </p:txBody>
      </p:sp>
      <p:sp>
        <p:nvSpPr>
          <p:cNvPr id="14" name="CORE text"/>
          <p:cNvSpPr txBox="1"/>
          <p:nvPr/>
        </p:nvSpPr>
        <p:spPr>
          <a:xfrm>
            <a:off x="3657600" y="3154680"/>
            <a:ext cx="2103120" cy="1600200"/>
          </a:xfrm>
          <a:prstGeom prst="rect">
            <a:avLst/>
          </a:prstGeom>
          <a:noFill/>
          <a:ln/>
        </p:spPr>
        <p:txBody>
          <a:bodyPr wrap="square" lIns="0" tIns="0" rIns="0" bIns="0" rtlCol="0" anchor="t"/>
          <a:lstStyle/>
          <a:p>
            <a:pPr indent="0" marL="0">
              <a:buNone/>
            </a:pPr>
            <a:r>
              <a:rPr lang="en-US" sz="1500" dirty="0">
                <a:solidFill>
                  <a:schemeClr val="tx2"/>
                </a:solidFill>
              </a:rPr>
              <a:t>History re-run with one cause repaired at a time. Deterministic: no model in the verdict.</a:t>
            </a:r>
            <a:endParaRPr lang="en-US" sz="1500" dirty="0"/>
          </a:p>
        </p:txBody>
      </p:sp>
      <p:sp>
        <p:nvSpPr>
          <p:cNvPr id="15" name="Arrow 2"/>
          <p:cNvSpPr/>
          <p:nvPr/>
        </p:nvSpPr>
        <p:spPr>
          <a:xfrm>
            <a:off x="5980176" y="3081528"/>
            <a:ext cx="201168" cy="274320"/>
          </a:xfrm>
          <a:prstGeom prst="rightArrow">
            <a:avLst/>
          </a:prstGeom>
          <a:solidFill>
            <a:schemeClr val="tx2"/>
          </a:solidFill>
          <a:ln w="12700">
            <a:solidFill>
              <a:schemeClr val="tx2"/>
            </a:solidFill>
            <a:prstDash val="solid"/>
          </a:ln>
        </p:spPr>
      </p:sp>
      <p:sp>
        <p:nvSpPr>
          <p:cNvPr id="16" name="BUILD card"/>
          <p:cNvSpPr/>
          <p:nvPr/>
        </p:nvSpPr>
        <p:spPr>
          <a:xfrm>
            <a:off x="6217920" y="1600200"/>
            <a:ext cx="2560320" cy="3246120"/>
          </a:xfrm>
          <a:prstGeom prst="roundRect">
            <a:avLst>
              <a:gd name="adj" fmla="val 4286"/>
            </a:avLst>
          </a:prstGeom>
          <a:solidFill>
            <a:schemeClr val="bg2"/>
          </a:solidFill>
          <a:ln w="12700">
            <a:solidFill>
              <a:schemeClr val="bg2"/>
            </a:solidFill>
            <a:prstDash val="solid"/>
          </a:ln>
        </p:spPr>
      </p:sp>
      <p:sp>
        <p:nvSpPr>
          <p:cNvPr id="17" name="BUILD pill"/>
          <p:cNvSpPr/>
          <p:nvPr/>
        </p:nvSpPr>
        <p:spPr>
          <a:xfrm>
            <a:off x="6492240" y="1874520"/>
            <a:ext cx="756209" cy="347472"/>
          </a:xfrm>
          <a:prstGeom prst="roundRect">
            <a:avLst>
              <a:gd name="adj" fmla="val 50000"/>
            </a:avLst>
          </a:prstGeom>
          <a:solidFill>
            <a:schemeClr val="accent4"/>
          </a:solidFill>
          <a:ln w="12700">
            <a:solidFill>
              <a:schemeClr val="accent4"/>
            </a:solidFill>
            <a:prstDash val="solid"/>
          </a:ln>
        </p:spPr>
      </p:sp>
      <p:sp>
        <p:nvSpPr>
          <p:cNvPr id="18" name="BUILD pill label"/>
          <p:cNvSpPr txBox="1"/>
          <p:nvPr/>
        </p:nvSpPr>
        <p:spPr>
          <a:xfrm>
            <a:off x="6492240" y="1874520"/>
            <a:ext cx="756209" cy="347472"/>
          </a:xfrm>
          <a:prstGeom prst="rect">
            <a:avLst/>
          </a:prstGeom>
          <a:noFill/>
          <a:ln/>
        </p:spPr>
        <p:txBody>
          <a:bodyPr wrap="square" lIns="0" tIns="0" rIns="0" bIns="0" rtlCol="0" anchor="ctr"/>
          <a:lstStyle/>
          <a:p>
            <a:pPr algn="ctr" indent="0" marL="0">
              <a:buNone/>
            </a:pPr>
            <a:r>
              <a:rPr lang="en-US" sz="1300" b="1" dirty="0">
                <a:solidFill>
                  <a:schemeClr val="bg1"/>
                </a:solidFill>
              </a:rPr>
              <a:t>BUILD</a:t>
            </a:r>
            <a:endParaRPr lang="en-US" sz="1300" dirty="0"/>
          </a:p>
        </p:txBody>
      </p:sp>
      <p:sp>
        <p:nvSpPr>
          <p:cNvPr id="19" name="BUILD name"/>
          <p:cNvSpPr txBox="1"/>
          <p:nvPr/>
        </p:nvSpPr>
        <p:spPr>
          <a:xfrm>
            <a:off x="6492240" y="2423160"/>
            <a:ext cx="2103120" cy="365760"/>
          </a:xfrm>
          <a:prstGeom prst="rect">
            <a:avLst/>
          </a:prstGeom>
          <a:noFill/>
          <a:ln/>
        </p:spPr>
        <p:txBody>
          <a:bodyPr wrap="square" lIns="0" tIns="0" rIns="0" bIns="0" rtlCol="0" anchor="t"/>
          <a:lstStyle/>
          <a:p>
            <a:pPr indent="0" marL="0">
              <a:buNone/>
            </a:pPr>
            <a:r>
              <a:rPr lang="en-US" sz="2000" b="1" dirty="0">
                <a:solidFill>
                  <a:schemeClr val="tx1"/>
                </a:solidFill>
              </a:rPr>
              <a:t>Meterless H-MEM</a:t>
            </a:r>
            <a:endParaRPr lang="en-US" sz="2000" dirty="0"/>
          </a:p>
        </p:txBody>
      </p:sp>
      <p:sp>
        <p:nvSpPr>
          <p:cNvPr id="20" name="BUILD text"/>
          <p:cNvSpPr txBox="1"/>
          <p:nvPr/>
        </p:nvSpPr>
        <p:spPr>
          <a:xfrm>
            <a:off x="6492240" y="3154680"/>
            <a:ext cx="2103120" cy="1600200"/>
          </a:xfrm>
          <a:prstGeom prst="rect">
            <a:avLst/>
          </a:prstGeom>
          <a:noFill/>
          <a:ln/>
        </p:spPr>
        <p:txBody>
          <a:bodyPr wrap="square" lIns="0" tIns="0" rIns="0" bIns="0" rtlCol="0" anchor="t"/>
          <a:lstStyle/>
          <a:p>
            <a:pPr indent="0" marL="0">
              <a:buNone/>
            </a:pPr>
            <a:r>
              <a:rPr lang="en-US" sz="1500" dirty="0">
                <a:solidFill>
                  <a:schemeClr val="tx2"/>
                </a:solidFill>
              </a:rPr>
              <a:t>Remembers past verdicts per supplier and learns from analyst feedback. 13/13 conformance.</a:t>
            </a:r>
            <a:endParaRPr lang="en-US" sz="1500" dirty="0"/>
          </a:p>
        </p:txBody>
      </p:sp>
      <p:sp>
        <p:nvSpPr>
          <p:cNvPr id="21" name="Arrow 3"/>
          <p:cNvSpPr/>
          <p:nvPr/>
        </p:nvSpPr>
        <p:spPr>
          <a:xfrm>
            <a:off x="8814816" y="3081528"/>
            <a:ext cx="201168" cy="274320"/>
          </a:xfrm>
          <a:prstGeom prst="rightArrow">
            <a:avLst/>
          </a:prstGeom>
          <a:solidFill>
            <a:schemeClr val="tx2"/>
          </a:solidFill>
          <a:ln w="12700">
            <a:solidFill>
              <a:schemeClr val="tx2"/>
            </a:solidFill>
            <a:prstDash val="solid"/>
          </a:ln>
        </p:spPr>
      </p:sp>
      <p:sp>
        <p:nvSpPr>
          <p:cNvPr id="22" name="POWER card"/>
          <p:cNvSpPr/>
          <p:nvPr/>
        </p:nvSpPr>
        <p:spPr>
          <a:xfrm>
            <a:off x="9052560" y="1600200"/>
            <a:ext cx="2560320" cy="3246120"/>
          </a:xfrm>
          <a:prstGeom prst="roundRect">
            <a:avLst>
              <a:gd name="adj" fmla="val 4286"/>
            </a:avLst>
          </a:prstGeom>
          <a:solidFill>
            <a:schemeClr val="bg2"/>
          </a:solidFill>
          <a:ln w="12700">
            <a:solidFill>
              <a:schemeClr val="bg2"/>
            </a:solidFill>
            <a:prstDash val="solid"/>
          </a:ln>
        </p:spPr>
      </p:sp>
      <p:sp>
        <p:nvSpPr>
          <p:cNvPr id="23" name="POWER pill"/>
          <p:cNvSpPr/>
          <p:nvPr/>
        </p:nvSpPr>
        <p:spPr>
          <a:xfrm>
            <a:off x="9326880" y="1874520"/>
            <a:ext cx="756209" cy="347472"/>
          </a:xfrm>
          <a:prstGeom prst="roundRect">
            <a:avLst>
              <a:gd name="adj" fmla="val 50000"/>
            </a:avLst>
          </a:prstGeom>
          <a:solidFill>
            <a:schemeClr val="accent5"/>
          </a:solidFill>
          <a:ln w="12700">
            <a:solidFill>
              <a:schemeClr val="accent5"/>
            </a:solidFill>
            <a:prstDash val="solid"/>
          </a:ln>
        </p:spPr>
      </p:sp>
      <p:sp>
        <p:nvSpPr>
          <p:cNvPr id="24" name="POWER pill label"/>
          <p:cNvSpPr txBox="1"/>
          <p:nvPr/>
        </p:nvSpPr>
        <p:spPr>
          <a:xfrm>
            <a:off x="9326880" y="1874520"/>
            <a:ext cx="756209" cy="347472"/>
          </a:xfrm>
          <a:prstGeom prst="rect">
            <a:avLst/>
          </a:prstGeom>
          <a:noFill/>
          <a:ln/>
        </p:spPr>
        <p:txBody>
          <a:bodyPr wrap="square" lIns="0" tIns="0" rIns="0" bIns="0" rtlCol="0" anchor="ctr"/>
          <a:lstStyle/>
          <a:p>
            <a:pPr algn="ctr" indent="0" marL="0">
              <a:buNone/>
            </a:pPr>
            <a:r>
              <a:rPr lang="en-US" sz="1300" b="1" dirty="0">
                <a:solidFill>
                  <a:schemeClr val="bg1"/>
                </a:solidFill>
              </a:rPr>
              <a:t>POWER</a:t>
            </a:r>
            <a:endParaRPr lang="en-US" sz="1300" dirty="0"/>
          </a:p>
        </p:txBody>
      </p:sp>
      <p:sp>
        <p:nvSpPr>
          <p:cNvPr id="25" name="POWER name"/>
          <p:cNvSpPr txBox="1"/>
          <p:nvPr/>
        </p:nvSpPr>
        <p:spPr>
          <a:xfrm>
            <a:off x="9326880" y="2423160"/>
            <a:ext cx="2103120" cy="365760"/>
          </a:xfrm>
          <a:prstGeom prst="rect">
            <a:avLst/>
          </a:prstGeom>
          <a:noFill/>
          <a:ln/>
        </p:spPr>
        <p:txBody>
          <a:bodyPr wrap="square" lIns="0" tIns="0" rIns="0" bIns="0" rtlCol="0" anchor="t"/>
          <a:lstStyle/>
          <a:p>
            <a:pPr indent="0" marL="0">
              <a:buNone/>
            </a:pPr>
            <a:r>
              <a:rPr lang="en-US" sz="2000" b="1" dirty="0">
                <a:solidFill>
                  <a:schemeClr val="tx1"/>
                </a:solidFill>
              </a:rPr>
              <a:t>Nemotron via Nightshift</a:t>
            </a:r>
            <a:endParaRPr lang="en-US" sz="2000" dirty="0"/>
          </a:p>
        </p:txBody>
      </p:sp>
      <p:sp>
        <p:nvSpPr>
          <p:cNvPr id="26" name="POWER text"/>
          <p:cNvSpPr txBox="1"/>
          <p:nvPr/>
        </p:nvSpPr>
        <p:spPr>
          <a:xfrm>
            <a:off x="9326880" y="3154680"/>
            <a:ext cx="2103120" cy="1600200"/>
          </a:xfrm>
          <a:prstGeom prst="rect">
            <a:avLst/>
          </a:prstGeom>
          <a:noFill/>
          <a:ln/>
        </p:spPr>
        <p:txBody>
          <a:bodyPr wrap="square" lIns="0" tIns="0" rIns="0" bIns="0" rtlCol="0" anchor="t"/>
          <a:lstStyle/>
          <a:p>
            <a:pPr indent="0" marL="0">
              <a:buNone/>
            </a:pPr>
            <a:r>
              <a:rPr lang="en-US" sz="1500" dirty="0">
                <a:solidFill>
                  <a:schemeClr val="tx2"/>
                </a:solidFill>
              </a:rPr>
              <a:t>Writes the plain-words explanation, fact-checked before it is shown. Never decides.</a:t>
            </a:r>
            <a:endParaRPr lang="en-US" sz="1500" dirty="0"/>
          </a:p>
        </p:txBody>
      </p:sp>
      <p:sp>
        <p:nvSpPr>
          <p:cNvPr id="27" name="Output strip"/>
          <p:cNvSpPr/>
          <p:nvPr/>
        </p:nvSpPr>
        <p:spPr>
          <a:xfrm>
            <a:off x="548640" y="5120640"/>
            <a:ext cx="11064240" cy="777240"/>
          </a:xfrm>
          <a:prstGeom prst="roundRect">
            <a:avLst>
              <a:gd name="adj" fmla="val 14118"/>
            </a:avLst>
          </a:prstGeom>
          <a:solidFill>
            <a:schemeClr val="bg2"/>
          </a:solidFill>
          <a:ln w="12700">
            <a:solidFill>
              <a:schemeClr val="bg2"/>
            </a:solidFill>
            <a:prstDash val="solid"/>
          </a:ln>
        </p:spPr>
      </p:sp>
      <p:sp>
        <p:nvSpPr>
          <p:cNvPr id="28" name="Output text"/>
          <p:cNvSpPr txBox="1"/>
          <p:nvPr/>
        </p:nvSpPr>
        <p:spPr>
          <a:xfrm>
            <a:off x="868680" y="5120640"/>
            <a:ext cx="10515600" cy="777240"/>
          </a:xfrm>
          <a:prstGeom prst="rect">
            <a:avLst/>
          </a:prstGeom>
          <a:noFill/>
          <a:ln/>
        </p:spPr>
        <p:txBody>
          <a:bodyPr wrap="square" lIns="0" tIns="0" rIns="0" bIns="0" rtlCol="0" anchor="ctr"/>
          <a:lstStyle/>
          <a:p>
            <a:pPr indent="0" marL="0">
              <a:buNone/>
            </a:pPr>
            <a:r>
              <a:rPr lang="en-US" sz="1800" b="1" dirty="0">
                <a:solidFill>
                  <a:schemeClr val="accent1"/>
                </a:solidFill>
              </a:rPr>
              <a:t>Output   </a:t>
            </a:r>
            <a:pPr indent="0" marL="0">
              <a:buNone/>
            </a:pPr>
            <a:r>
              <a:rPr lang="en-US" sz="1800" dirty="0">
                <a:solidFill>
                  <a:schemeClr val="tx1"/>
                </a:solidFill>
              </a:rPr>
              <a:t>verdict  ·  reasoning  ·  re-runnable evidence  ·  a memory for next time</a:t>
            </a:r>
            <a:endParaRPr lang="en-US" sz="18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DATA  ·  ZETARIS</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Zetaris is the only door to the data</a:t>
            </a:r>
            <a:endParaRPr lang="en-US" sz="3400" dirty="0"/>
          </a:p>
        </p:txBody>
      </p:sp>
      <p:pic>
        <p:nvPicPr>
          <p:cNvPr id="4" name="Zetaris screenshot" descr="Zetaris Data Explorer showing the retail datasource and its six tables">    </p:cNvPr>
          <p:cNvPicPr>
            <a:picLocks noChangeAspect="1"/>
          </p:cNvPicPr>
          <p:nvPr/>
        </p:nvPicPr>
        <p:blipFill>
          <a:blip r:embed="rId1"/>
          <a:stretch>
            <a:fillRect/>
          </a:stretch>
        </p:blipFill>
        <p:spPr>
          <a:xfrm>
            <a:off x="548640" y="1554480"/>
            <a:ext cx="6675120" cy="3461302"/>
          </a:xfrm>
          <a:prstGeom prst="rect">
            <a:avLst/>
          </a:prstGeom>
        </p:spPr>
      </p:pic>
      <p:sp>
        <p:nvSpPr>
          <p:cNvPr id="5" name="Zetaris caption"/>
          <p:cNvSpPr txBox="1"/>
          <p:nvPr/>
        </p:nvSpPr>
        <p:spPr>
          <a:xfrm>
            <a:off x="548640" y="5074920"/>
            <a:ext cx="6675120" cy="274320"/>
          </a:xfrm>
          <a:prstGeom prst="rect">
            <a:avLst/>
          </a:prstGeom>
          <a:noFill/>
          <a:ln/>
        </p:spPr>
        <p:txBody>
          <a:bodyPr wrap="square" lIns="0" tIns="0" rIns="0" bIns="0" rtlCol="0" anchor="t"/>
          <a:lstStyle/>
          <a:p>
            <a:pPr indent="0" marL="0">
              <a:buNone/>
            </a:pPr>
            <a:r>
              <a:rPr lang="en-US" sz="1100" i="1" dirty="0">
                <a:solidFill>
                  <a:schemeClr val="tx2"/>
                </a:solidFill>
              </a:rPr>
              <a:t>Zetaris Data Explorer: the retail datasource and its six tables (local install)</a:t>
            </a:r>
            <a:endParaRPr lang="en-US" sz="1100" dirty="0"/>
          </a:p>
        </p:txBody>
      </p:sp>
      <p:sp>
        <p:nvSpPr>
          <p:cNvPr id="6" name="Data point 1 dot"/>
          <p:cNvSpPr/>
          <p:nvPr/>
        </p:nvSpPr>
        <p:spPr>
          <a:xfrm>
            <a:off x="7589520" y="1636776"/>
            <a:ext cx="292608" cy="292608"/>
          </a:xfrm>
          <a:prstGeom prst="ellipse">
            <a:avLst/>
          </a:prstGeom>
          <a:solidFill>
            <a:schemeClr val="accent3"/>
          </a:solidFill>
          <a:ln w="12700">
            <a:solidFill>
              <a:schemeClr val="accent3"/>
            </a:solidFill>
            <a:prstDash val="solid"/>
          </a:ln>
        </p:spPr>
      </p:sp>
      <p:sp>
        <p:nvSpPr>
          <p:cNvPr id="7" name="Data point 1"/>
          <p:cNvSpPr txBox="1"/>
          <p:nvPr/>
        </p:nvSpPr>
        <p:spPr>
          <a:xfrm>
            <a:off x="8092440" y="1600200"/>
            <a:ext cx="3520440" cy="960120"/>
          </a:xfrm>
          <a:prstGeom prst="rect">
            <a:avLst/>
          </a:prstGeom>
          <a:noFill/>
          <a:ln/>
        </p:spPr>
        <p:txBody>
          <a:bodyPr wrap="square" lIns="0" tIns="0" rIns="0" bIns="0" rtlCol="0" anchor="t"/>
          <a:lstStyle/>
          <a:p>
            <a:pPr indent="0" marL="0">
              <a:buNone/>
            </a:pPr>
            <a:r>
              <a:rPr lang="en-US" sz="1500" dirty="0">
                <a:solidFill>
                  <a:schemeClr val="tx1"/>
                </a:solidFill>
              </a:rPr>
              <a:t>Six tables in a retail Postgres, registered in Zetaris as the datasource retail</a:t>
            </a:r>
            <a:endParaRPr lang="en-US" sz="1500" dirty="0"/>
          </a:p>
        </p:txBody>
      </p:sp>
      <p:sp>
        <p:nvSpPr>
          <p:cNvPr id="8" name="Data point 2 dot"/>
          <p:cNvSpPr/>
          <p:nvPr/>
        </p:nvSpPr>
        <p:spPr>
          <a:xfrm>
            <a:off x="7589520" y="2688336"/>
            <a:ext cx="292608" cy="292608"/>
          </a:xfrm>
          <a:prstGeom prst="ellipse">
            <a:avLst/>
          </a:prstGeom>
          <a:solidFill>
            <a:schemeClr val="accent3"/>
          </a:solidFill>
          <a:ln w="12700">
            <a:solidFill>
              <a:schemeClr val="accent3"/>
            </a:solidFill>
            <a:prstDash val="solid"/>
          </a:ln>
        </p:spPr>
      </p:sp>
      <p:sp>
        <p:nvSpPr>
          <p:cNvPr id="9" name="Data point 2"/>
          <p:cNvSpPr txBox="1"/>
          <p:nvPr/>
        </p:nvSpPr>
        <p:spPr>
          <a:xfrm>
            <a:off x="8092440" y="2651760"/>
            <a:ext cx="3520440" cy="960120"/>
          </a:xfrm>
          <a:prstGeom prst="rect">
            <a:avLst/>
          </a:prstGeom>
          <a:noFill/>
          <a:ln/>
        </p:spPr>
        <p:txBody>
          <a:bodyPr wrap="square" lIns="0" tIns="0" rIns="0" bIns="0" rtlCol="0" anchor="t"/>
          <a:lstStyle/>
          <a:p>
            <a:pPr indent="0" marL="0">
              <a:buNone/>
            </a:pPr>
            <a:r>
              <a:rPr lang="en-US" sz="1500" dirty="0">
                <a:solidFill>
                  <a:schemeClr val="tx1"/>
                </a:solidFill>
              </a:rPr>
              <a:t>Seven fixed, read-only queries. The agent chooses one; it can't write SQL</a:t>
            </a:r>
            <a:endParaRPr lang="en-US" sz="1500" dirty="0"/>
          </a:p>
        </p:txBody>
      </p:sp>
      <p:sp>
        <p:nvSpPr>
          <p:cNvPr id="10" name="Data point 3 dot"/>
          <p:cNvSpPr/>
          <p:nvPr/>
        </p:nvSpPr>
        <p:spPr>
          <a:xfrm>
            <a:off x="7589520" y="3739896"/>
            <a:ext cx="292608" cy="292608"/>
          </a:xfrm>
          <a:prstGeom prst="ellipse">
            <a:avLst/>
          </a:prstGeom>
          <a:solidFill>
            <a:schemeClr val="accent3"/>
          </a:solidFill>
          <a:ln w="12700">
            <a:solidFill>
              <a:schemeClr val="accent3"/>
            </a:solidFill>
            <a:prstDash val="solid"/>
          </a:ln>
        </p:spPr>
      </p:sp>
      <p:sp>
        <p:nvSpPr>
          <p:cNvPr id="11" name="Data point 3"/>
          <p:cNvSpPr txBox="1"/>
          <p:nvPr/>
        </p:nvSpPr>
        <p:spPr>
          <a:xfrm>
            <a:off x="8092440" y="3703320"/>
            <a:ext cx="3520440" cy="960120"/>
          </a:xfrm>
          <a:prstGeom prst="rect">
            <a:avLst/>
          </a:prstGeom>
          <a:noFill/>
          <a:ln/>
        </p:spPr>
        <p:txBody>
          <a:bodyPr wrap="square" lIns="0" tIns="0" rIns="0" bIns="0" rtlCol="0" anchor="t"/>
          <a:lstStyle/>
          <a:p>
            <a:pPr indent="0" marL="0">
              <a:buNone/>
            </a:pPr>
            <a:r>
              <a:rPr lang="en-US" sz="1500" dirty="0">
                <a:solidFill>
                  <a:schemeClr val="tx1"/>
                </a:solidFill>
              </a:rPr>
              <a:t>Every read returns its SQL, rows, result hash and timestamp</a:t>
            </a:r>
            <a:endParaRPr lang="en-US" sz="1500" dirty="0"/>
          </a:p>
        </p:txBody>
      </p:sp>
      <p:sp>
        <p:nvSpPr>
          <p:cNvPr id="12" name="Data point 4 dot"/>
          <p:cNvSpPr/>
          <p:nvPr/>
        </p:nvSpPr>
        <p:spPr>
          <a:xfrm>
            <a:off x="7589520" y="4791456"/>
            <a:ext cx="292608" cy="292608"/>
          </a:xfrm>
          <a:prstGeom prst="ellipse">
            <a:avLst/>
          </a:prstGeom>
          <a:solidFill>
            <a:schemeClr val="accent3"/>
          </a:solidFill>
          <a:ln w="12700">
            <a:solidFill>
              <a:schemeClr val="accent3"/>
            </a:solidFill>
            <a:prstDash val="solid"/>
          </a:ln>
        </p:spPr>
      </p:sp>
      <p:sp>
        <p:nvSpPr>
          <p:cNvPr id="13" name="Data point 4"/>
          <p:cNvSpPr txBox="1"/>
          <p:nvPr/>
        </p:nvSpPr>
        <p:spPr>
          <a:xfrm>
            <a:off x="8092440" y="4754880"/>
            <a:ext cx="3520440" cy="960120"/>
          </a:xfrm>
          <a:prstGeom prst="rect">
            <a:avLst/>
          </a:prstGeom>
          <a:noFill/>
          <a:ln/>
        </p:spPr>
        <p:txBody>
          <a:bodyPr wrap="square" lIns="0" tIns="0" rIns="0" bIns="0" rtlCol="0" anchor="t"/>
          <a:lstStyle/>
          <a:p>
            <a:pPr indent="0" marL="0">
              <a:buNone/>
            </a:pPr>
            <a:r>
              <a:rPr lang="en-US" sz="1500" dirty="0">
                <a:solidFill>
                  <a:schemeClr val="tx1"/>
                </a:solidFill>
              </a:rPr>
              <a:t>The loader counts each table back through Zetaris: all six match</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BUILD  ·  METERLESS H-MEM</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Memory that compounds</a:t>
            </a:r>
            <a:endParaRPr lang="en-US" sz="3400" dirty="0"/>
          </a:p>
        </p:txBody>
      </p:sp>
      <p:sp>
        <p:nvSpPr>
          <p:cNvPr id="4" name="Conformance stat"/>
          <p:cNvSpPr txBox="1"/>
          <p:nvPr/>
        </p:nvSpPr>
        <p:spPr>
          <a:xfrm>
            <a:off x="548640" y="1508760"/>
            <a:ext cx="4937760" cy="914400"/>
          </a:xfrm>
          <a:prstGeom prst="rect">
            <a:avLst/>
          </a:prstGeom>
          <a:noFill/>
          <a:ln/>
        </p:spPr>
        <p:txBody>
          <a:bodyPr wrap="square" lIns="0" tIns="0" rIns="0" bIns="0" rtlCol="0" anchor="t"/>
          <a:lstStyle/>
          <a:p>
            <a:pPr indent="0" marL="0">
              <a:buNone/>
            </a:pPr>
            <a:r>
              <a:rPr lang="en-US" sz="6000" b="1" dirty="0">
                <a:solidFill>
                  <a:schemeClr val="accent4"/>
                </a:solidFill>
              </a:rPr>
              <a:t>13/13</a:t>
            </a:r>
            <a:endParaRPr lang="en-US" sz="6000" dirty="0"/>
          </a:p>
        </p:txBody>
      </p:sp>
      <p:sp>
        <p:nvSpPr>
          <p:cNvPr id="5" name="Conformance label"/>
          <p:cNvSpPr txBox="1"/>
          <p:nvPr/>
        </p:nvSpPr>
        <p:spPr>
          <a:xfrm>
            <a:off x="548640" y="2468880"/>
            <a:ext cx="4937760" cy="365760"/>
          </a:xfrm>
          <a:prstGeom prst="rect">
            <a:avLst/>
          </a:prstGeom>
          <a:noFill/>
          <a:ln/>
        </p:spPr>
        <p:txBody>
          <a:bodyPr wrap="square" lIns="0" tIns="0" rIns="0" bIns="0" rtlCol="0" anchor="t"/>
          <a:lstStyle/>
          <a:p>
            <a:pPr indent="0" marL="0">
              <a:buNone/>
            </a:pPr>
            <a:r>
              <a:rPr lang="en-US" sz="1300" dirty="0">
                <a:solidFill>
                  <a:schemeClr val="tx2"/>
                </a:solidFill>
              </a:rPr>
              <a:t>official H-MEM conformance cases, on the canonical upstream runner</a:t>
            </a:r>
            <a:endParaRPr lang="en-US" sz="1300" dirty="0"/>
          </a:p>
        </p:txBody>
      </p:sp>
      <p:sp>
        <p:nvSpPr>
          <p:cNvPr id="6" name="Memory point 1 dot"/>
          <p:cNvSpPr/>
          <p:nvPr/>
        </p:nvSpPr>
        <p:spPr>
          <a:xfrm>
            <a:off x="548640" y="3145536"/>
            <a:ext cx="292608" cy="292608"/>
          </a:xfrm>
          <a:prstGeom prst="ellipse">
            <a:avLst/>
          </a:prstGeom>
          <a:solidFill>
            <a:schemeClr val="accent4"/>
          </a:solidFill>
          <a:ln w="12700">
            <a:solidFill>
              <a:schemeClr val="accent4"/>
            </a:solidFill>
            <a:prstDash val="solid"/>
          </a:ln>
        </p:spPr>
      </p:sp>
      <p:sp>
        <p:nvSpPr>
          <p:cNvPr id="7" name="Memory point 1"/>
          <p:cNvSpPr txBox="1"/>
          <p:nvPr/>
        </p:nvSpPr>
        <p:spPr>
          <a:xfrm>
            <a:off x="1051560" y="3108960"/>
            <a:ext cx="4434840" cy="621792"/>
          </a:xfrm>
          <a:prstGeom prst="rect">
            <a:avLst/>
          </a:prstGeom>
          <a:noFill/>
          <a:ln/>
        </p:spPr>
        <p:txBody>
          <a:bodyPr wrap="square" lIns="0" tIns="0" rIns="0" bIns="0" rtlCol="0" anchor="t"/>
          <a:lstStyle/>
          <a:p>
            <a:pPr indent="0" marL="0">
              <a:buNone/>
            </a:pPr>
            <a:r>
              <a:rPr lang="en-US" sz="1500" dirty="0">
                <a:solidFill>
                  <a:schemeClr val="tx1"/>
                </a:solidFill>
              </a:rPr>
              <a:t>Our own implementation, written against the published spec</a:t>
            </a:r>
            <a:endParaRPr lang="en-US" sz="1500" dirty="0"/>
          </a:p>
        </p:txBody>
      </p:sp>
      <p:sp>
        <p:nvSpPr>
          <p:cNvPr id="8" name="Memory point 2 dot"/>
          <p:cNvSpPr/>
          <p:nvPr/>
        </p:nvSpPr>
        <p:spPr>
          <a:xfrm>
            <a:off x="548640" y="3858768"/>
            <a:ext cx="292608" cy="292608"/>
          </a:xfrm>
          <a:prstGeom prst="ellipse">
            <a:avLst/>
          </a:prstGeom>
          <a:solidFill>
            <a:schemeClr val="accent4"/>
          </a:solidFill>
          <a:ln w="12700">
            <a:solidFill>
              <a:schemeClr val="accent4"/>
            </a:solidFill>
            <a:prstDash val="solid"/>
          </a:ln>
        </p:spPr>
      </p:sp>
      <p:sp>
        <p:nvSpPr>
          <p:cNvPr id="9" name="Memory point 2"/>
          <p:cNvSpPr txBox="1"/>
          <p:nvPr/>
        </p:nvSpPr>
        <p:spPr>
          <a:xfrm>
            <a:off x="1051560" y="3822192"/>
            <a:ext cx="4434840" cy="621792"/>
          </a:xfrm>
          <a:prstGeom prst="rect">
            <a:avLst/>
          </a:prstGeom>
          <a:noFill/>
          <a:ln/>
        </p:spPr>
        <p:txBody>
          <a:bodyPr wrap="square" lIns="0" tIns="0" rIns="0" bIns="0" rtlCol="0" anchor="t"/>
          <a:lstStyle/>
          <a:p>
            <a:pPr indent="0" marL="0">
              <a:buNone/>
            </a:pPr>
            <a:r>
              <a:rPr lang="en-US" sz="1500" dirty="0">
                <a:solidFill>
                  <a:schemeClr val="tx1"/>
                </a:solidFill>
              </a:rPr>
              <a:t>Each verdict is stored with its lineage, per supplier</a:t>
            </a:r>
            <a:endParaRPr lang="en-US" sz="1500" dirty="0"/>
          </a:p>
        </p:txBody>
      </p:sp>
      <p:sp>
        <p:nvSpPr>
          <p:cNvPr id="10" name="Memory point 3 dot"/>
          <p:cNvSpPr/>
          <p:nvPr/>
        </p:nvSpPr>
        <p:spPr>
          <a:xfrm>
            <a:off x="548640" y="4572000"/>
            <a:ext cx="292608" cy="292608"/>
          </a:xfrm>
          <a:prstGeom prst="ellipse">
            <a:avLst/>
          </a:prstGeom>
          <a:solidFill>
            <a:schemeClr val="accent4"/>
          </a:solidFill>
          <a:ln w="12700">
            <a:solidFill>
              <a:schemeClr val="accent4"/>
            </a:solidFill>
            <a:prstDash val="solid"/>
          </a:ln>
        </p:spPr>
      </p:sp>
      <p:sp>
        <p:nvSpPr>
          <p:cNvPr id="11" name="Memory point 3"/>
          <p:cNvSpPr txBox="1"/>
          <p:nvPr/>
        </p:nvSpPr>
        <p:spPr>
          <a:xfrm>
            <a:off x="1051560" y="4535424"/>
            <a:ext cx="4434840" cy="621792"/>
          </a:xfrm>
          <a:prstGeom prst="rect">
            <a:avLst/>
          </a:prstGeom>
          <a:noFill/>
          <a:ln/>
        </p:spPr>
        <p:txBody>
          <a:bodyPr wrap="square" lIns="0" tIns="0" rIns="0" bIns="0" rtlCol="0" anchor="t"/>
          <a:lstStyle/>
          <a:p>
            <a:pPr indent="0" marL="0">
              <a:buNone/>
            </a:pPr>
            <a:r>
              <a:rPr lang="en-US" sz="1500" dirty="0">
                <a:solidFill>
                  <a:schemeClr val="tx1"/>
                </a:solidFill>
              </a:rPr>
              <a:t>The next investigation recalls it, ranked by confidence</a:t>
            </a:r>
            <a:endParaRPr lang="en-US" sz="1500" dirty="0"/>
          </a:p>
        </p:txBody>
      </p:sp>
      <p:sp>
        <p:nvSpPr>
          <p:cNvPr id="12" name="Memory point 4 dot"/>
          <p:cNvSpPr/>
          <p:nvPr/>
        </p:nvSpPr>
        <p:spPr>
          <a:xfrm>
            <a:off x="548640" y="5285232"/>
            <a:ext cx="292608" cy="292608"/>
          </a:xfrm>
          <a:prstGeom prst="ellipse">
            <a:avLst/>
          </a:prstGeom>
          <a:solidFill>
            <a:schemeClr val="accent4"/>
          </a:solidFill>
          <a:ln w="12700">
            <a:solidFill>
              <a:schemeClr val="accent4"/>
            </a:solidFill>
            <a:prstDash val="solid"/>
          </a:ln>
        </p:spPr>
      </p:sp>
      <p:sp>
        <p:nvSpPr>
          <p:cNvPr id="13" name="Memory point 4"/>
          <p:cNvSpPr txBox="1"/>
          <p:nvPr/>
        </p:nvSpPr>
        <p:spPr>
          <a:xfrm>
            <a:off x="1051560" y="5248656"/>
            <a:ext cx="4434840" cy="621792"/>
          </a:xfrm>
          <a:prstGeom prst="rect">
            <a:avLst/>
          </a:prstGeom>
          <a:noFill/>
          <a:ln/>
        </p:spPr>
        <p:txBody>
          <a:bodyPr wrap="square" lIns="0" tIns="0" rIns="0" bIns="0" rtlCol="0" anchor="t"/>
          <a:lstStyle/>
          <a:p>
            <a:pPr indent="0" marL="0">
              <a:buNone/>
            </a:pPr>
            <a:r>
              <a:rPr lang="en-US" sz="1500" dirty="0">
                <a:solidFill>
                  <a:schemeClr val="tx1"/>
                </a:solidFill>
              </a:rPr>
              <a:t>Analyst feedback moves confidence by the spec's exact deltas</a:t>
            </a:r>
            <a:endParaRPr lang="en-US" sz="1500" dirty="0"/>
          </a:p>
        </p:txBody>
      </p:sp>
      <p:sp>
        <p:nvSpPr>
          <p:cNvPr id="14" name="Chart card"/>
          <p:cNvSpPr/>
          <p:nvPr/>
        </p:nvSpPr>
        <p:spPr>
          <a:xfrm>
            <a:off x="5989320" y="1508760"/>
            <a:ext cx="5623560" cy="4526280"/>
          </a:xfrm>
          <a:prstGeom prst="roundRect">
            <a:avLst>
              <a:gd name="adj" fmla="val 2424"/>
            </a:avLst>
          </a:prstGeom>
          <a:solidFill>
            <a:schemeClr val="bg2"/>
          </a:solidFill>
          <a:ln w="12700">
            <a:solidFill>
              <a:schemeClr val="bg2"/>
            </a:solidFill>
            <a:prstDash val="solid"/>
          </a:ln>
        </p:spPr>
      </p:sp>
      <p:graphicFrame>
        <p:nvGraphicFramePr>
          <p:cNvPr id="15" name="Confidence chart" descr="Column chart: a new memory starts at 0.70 confidence; confirmed moves it to 0.75; marked wrong drops it to 0.50"/>
          <p:cNvGraphicFramePr/>
          <p:nvPr/>
        </p:nvGraphicFramePr>
        <p:xfrm>
          <a:off x="6172200" y="1645920"/>
          <a:ext cx="5257800" cy="3931920"/>
        </p:xfrm>
        <a:graphic xmlns:a="http://schemas.openxmlformats.org/drawingml/2006/main">
          <a:graphicData uri="http://schemas.openxmlformats.org/drawingml/2006/chart">
            <c:chart xmlns:c="http://schemas.openxmlformats.org/drawingml/2006/chart" r:id="rId1"/>
          </a:graphicData>
        </a:graphic>
      </p:graphicFrame>
      <p:sp>
        <p:nvSpPr>
          <p:cNvPr id="16" name="Chart caption"/>
          <p:cNvSpPr txBox="1"/>
          <p:nvPr/>
        </p:nvSpPr>
        <p:spPr>
          <a:xfrm>
            <a:off x="6172200" y="5623560"/>
            <a:ext cx="5257800" cy="274320"/>
          </a:xfrm>
          <a:prstGeom prst="rect">
            <a:avLst/>
          </a:prstGeom>
          <a:noFill/>
          <a:ln/>
        </p:spPr>
        <p:txBody>
          <a:bodyPr wrap="square" lIns="0" tIns="0" rIns="0" bIns="0" rtlCol="0" anchor="t"/>
          <a:lstStyle/>
          <a:p>
            <a:pPr indent="0" marL="0">
              <a:buNone/>
            </a:pPr>
            <a:r>
              <a:rPr lang="en-US" sz="1100" i="1" dirty="0">
                <a:solidFill>
                  <a:schemeClr val="tx2"/>
                </a:solidFill>
              </a:rPr>
              <a:t>Spec deltas, as measured by npm run smoke and the CLI</a:t>
            </a:r>
            <a:endParaRPr lang="en-US" sz="11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POWER  ·  NEMOTRON VIA NIGHTSHIFT</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Nemotron explains; the records decide</a:t>
            </a:r>
            <a:endParaRPr lang="en-US" sz="3400" dirty="0"/>
          </a:p>
        </p:txBody>
      </p:sp>
      <p:pic>
        <p:nvPicPr>
          <p:cNvPr id="4" name="Nightshift screenshot" descr="Meterless Nightshift lanes view with an NVIDIA Nemotron 3.5 Lightning lane marked ready">    </p:cNvPr>
          <p:cNvPicPr>
            <a:picLocks noChangeAspect="1"/>
          </p:cNvPicPr>
          <p:nvPr/>
        </p:nvPicPr>
        <p:blipFill>
          <a:blip r:embed="rId1"/>
          <a:stretch>
            <a:fillRect/>
          </a:stretch>
        </p:blipFill>
        <p:spPr>
          <a:xfrm>
            <a:off x="548640" y="1554480"/>
            <a:ext cx="6035040" cy="3223510"/>
          </a:xfrm>
          <a:prstGeom prst="rect">
            <a:avLst/>
          </a:prstGeom>
        </p:spPr>
      </p:pic>
      <p:sp>
        <p:nvSpPr>
          <p:cNvPr id="5" name="Nightshift caption"/>
          <p:cNvSpPr txBox="1"/>
          <p:nvPr/>
        </p:nvSpPr>
        <p:spPr>
          <a:xfrm>
            <a:off x="548640" y="4864608"/>
            <a:ext cx="6035040" cy="274320"/>
          </a:xfrm>
          <a:prstGeom prst="rect">
            <a:avLst/>
          </a:prstGeom>
          <a:noFill/>
          <a:ln/>
        </p:spPr>
        <p:txBody>
          <a:bodyPr wrap="square" lIns="0" tIns="0" rIns="0" bIns="0" rtlCol="0" anchor="t"/>
          <a:lstStyle/>
          <a:p>
            <a:pPr indent="0" marL="0">
              <a:buNone/>
            </a:pPr>
            <a:r>
              <a:rPr lang="en-US" sz="1100" i="1" dirty="0">
                <a:solidFill>
                  <a:schemeClr val="tx2"/>
                </a:solidFill>
              </a:rPr>
              <a:t>Nightshift lane: NVIDIA Nemotron 3.5 Lightning via OpenRouter, ready</a:t>
            </a:r>
            <a:endParaRPr lang="en-US" sz="1100" dirty="0"/>
          </a:p>
        </p:txBody>
      </p:sp>
      <p:sp>
        <p:nvSpPr>
          <p:cNvPr id="6" name="Model call panel"/>
          <p:cNvSpPr/>
          <p:nvPr/>
        </p:nvSpPr>
        <p:spPr>
          <a:xfrm>
            <a:off x="6903720" y="1554480"/>
            <a:ext cx="4709160" cy="1691640"/>
          </a:xfrm>
          <a:prstGeom prst="roundRect">
            <a:avLst>
              <a:gd name="adj" fmla="val 6486"/>
            </a:avLst>
          </a:prstGeom>
          <a:solidFill>
            <a:schemeClr val="bg2"/>
          </a:solidFill>
          <a:ln w="12700">
            <a:solidFill>
              <a:schemeClr val="bg2"/>
            </a:solidFill>
            <a:prstDash val="solid"/>
          </a:ln>
        </p:spPr>
      </p:sp>
      <p:sp>
        <p:nvSpPr>
          <p:cNvPr id="7" name="Model call panel text"/>
          <p:cNvSpPr txBox="1"/>
          <p:nvPr/>
        </p:nvSpPr>
        <p:spPr>
          <a:xfrm>
            <a:off x="7132320" y="1755648"/>
            <a:ext cx="4343400" cy="1325880"/>
          </a:xfrm>
          <a:prstGeom prst="rect">
            <a:avLst/>
          </a:prstGeom>
          <a:noFill/>
          <a:ln/>
        </p:spPr>
        <p:txBody>
          <a:bodyPr wrap="square" lIns="0" tIns="0" rIns="0" bIns="0" rtlCol="0" anchor="t"/>
          <a:lstStyle/>
          <a:p>
            <a:pPr indent="0" marL="0">
              <a:spcAft>
                <a:spcPts val="200"/>
              </a:spcAft>
              <a:buNone/>
            </a:pPr>
            <a:r>
              <a:rPr lang="en-US" sz="1200" b="1" dirty="0">
                <a:solidFill>
                  <a:schemeClr val="accent1"/>
                </a:solidFill>
                <a:latin typeface="Consolas" pitchFamily="34" charset="0"/>
                <a:ea typeface="Consolas" pitchFamily="34" charset="-122"/>
                <a:cs typeface="Consolas" pitchFamily="34" charset="-120"/>
              </a:rPr>
              <a:t>MODEL CALL</a:t>
            </a:r>
            <a:endParaRPr lang="en-US" sz="1200" dirty="0"/>
          </a:p>
          <a:p>
            <a:pPr indent="0" marL="0">
              <a:spcAft>
                <a:spcPts val="200"/>
              </a:spcAft>
              <a:buNone/>
            </a:pPr>
            <a:r>
              <a:rPr lang="en-US" sz="1200" dirty="0">
                <a:solidFill>
                  <a:schemeClr val="tx1"/>
                </a:solidFill>
                <a:latin typeface="Consolas" pitchFamily="34" charset="0"/>
                <a:ea typeface="Consolas" pitchFamily="34" charset="-122"/>
                <a:cs typeface="Consolas" pitchFamily="34" charset="-120"/>
              </a:rPr>
              <a:t>requested  openrouter/nvidia/nemotron-3.5-lightning</a:t>
            </a:r>
            <a:endParaRPr lang="en-US" sz="1200" dirty="0"/>
          </a:p>
          <a:p>
            <a:pPr indent="0" marL="0">
              <a:spcAft>
                <a:spcPts val="200"/>
              </a:spcAft>
              <a:buNone/>
            </a:pPr>
            <a:r>
              <a:rPr lang="en-US" sz="1200" dirty="0">
                <a:solidFill>
                  <a:schemeClr val="accent5"/>
                </a:solidFill>
                <a:latin typeface="Consolas" pitchFamily="34" charset="0"/>
                <a:ea typeface="Consolas" pitchFamily="34" charset="-122"/>
                <a:cs typeface="Consolas" pitchFamily="34" charset="-120"/>
              </a:rPr>
              <a:t>answered   openrouter/nvidia/nemotron-3.5-lightning</a:t>
            </a:r>
            <a:endParaRPr lang="en-US" sz="1200" dirty="0"/>
          </a:p>
          <a:p>
            <a:pPr indent="0" marL="0">
              <a:spcAft>
                <a:spcPts val="200"/>
              </a:spcAft>
              <a:buNone/>
            </a:pPr>
            <a:r>
              <a:rPr lang="en-US" sz="1200" dirty="0">
                <a:solidFill>
                  <a:schemeClr val="tx1"/>
                </a:solidFill>
                <a:latin typeface="Consolas" pitchFamily="34" charset="0"/>
                <a:ea typeface="Consolas" pitchFamily="34" charset="-122"/>
                <a:cs typeface="Consolas" pitchFamily="34" charset="-120"/>
              </a:rPr>
              <a:t>receipt    rcpt_req_udaamg4e</a:t>
            </a:r>
            <a:endParaRPr lang="en-US" sz="1200" dirty="0"/>
          </a:p>
          <a:p>
            <a:pPr indent="0" marL="0">
              <a:spcAft>
                <a:spcPts val="200"/>
              </a:spcAft>
              <a:buNone/>
            </a:pPr>
            <a:r>
              <a:rPr lang="en-US" sz="1200" b="1" dirty="0">
                <a:solidFill>
                  <a:schemeClr val="accent5"/>
                </a:solidFill>
                <a:latin typeface="Consolas" pitchFamily="34" charset="0"/>
                <a:ea typeface="Consolas" pitchFamily="34" charset="-122"/>
                <a:cs typeface="Consolas" pitchFamily="34" charset="-120"/>
              </a:rPr>
              <a:t>nemotron   yes</a:t>
            </a:r>
            <a:endParaRPr lang="en-US" sz="1200" dirty="0"/>
          </a:p>
        </p:txBody>
      </p:sp>
      <p:sp>
        <p:nvSpPr>
          <p:cNvPr id="8" name="Power point 1 dot"/>
          <p:cNvSpPr/>
          <p:nvPr/>
        </p:nvSpPr>
        <p:spPr>
          <a:xfrm>
            <a:off x="6903720" y="3557016"/>
            <a:ext cx="292608" cy="292608"/>
          </a:xfrm>
          <a:prstGeom prst="ellipse">
            <a:avLst/>
          </a:prstGeom>
          <a:solidFill>
            <a:schemeClr val="accent5"/>
          </a:solidFill>
          <a:ln w="12700">
            <a:solidFill>
              <a:schemeClr val="accent5"/>
            </a:solidFill>
            <a:prstDash val="solid"/>
          </a:ln>
        </p:spPr>
      </p:sp>
      <p:sp>
        <p:nvSpPr>
          <p:cNvPr id="9" name="Power point 1"/>
          <p:cNvSpPr txBox="1"/>
          <p:nvPr/>
        </p:nvSpPr>
        <p:spPr>
          <a:xfrm>
            <a:off x="7406640" y="3520440"/>
            <a:ext cx="4206240" cy="777240"/>
          </a:xfrm>
          <a:prstGeom prst="rect">
            <a:avLst/>
          </a:prstGeom>
          <a:noFill/>
          <a:ln/>
        </p:spPr>
        <p:txBody>
          <a:bodyPr wrap="square" lIns="0" tIns="0" rIns="0" bIns="0" rtlCol="0" anchor="t"/>
          <a:lstStyle/>
          <a:p>
            <a:pPr indent="0" marL="0">
              <a:buNone/>
            </a:pPr>
            <a:r>
              <a:rPr lang="en-US" sz="1500" dirty="0">
                <a:solidFill>
                  <a:schemeClr val="tx1"/>
                </a:solidFill>
              </a:rPr>
              <a:t>Nightshift is the app's primary AI provider, over its OpenAI-compatible Runtime</a:t>
            </a:r>
            <a:endParaRPr lang="en-US" sz="1500" dirty="0"/>
          </a:p>
        </p:txBody>
      </p:sp>
      <p:sp>
        <p:nvSpPr>
          <p:cNvPr id="10" name="Power point 2 dot"/>
          <p:cNvSpPr/>
          <p:nvPr/>
        </p:nvSpPr>
        <p:spPr>
          <a:xfrm>
            <a:off x="6903720" y="4425696"/>
            <a:ext cx="292608" cy="292608"/>
          </a:xfrm>
          <a:prstGeom prst="ellipse">
            <a:avLst/>
          </a:prstGeom>
          <a:solidFill>
            <a:schemeClr val="accent5"/>
          </a:solidFill>
          <a:ln w="12700">
            <a:solidFill>
              <a:schemeClr val="accent5"/>
            </a:solidFill>
            <a:prstDash val="solid"/>
          </a:ln>
        </p:spPr>
      </p:sp>
      <p:sp>
        <p:nvSpPr>
          <p:cNvPr id="11" name="Power point 2"/>
          <p:cNvSpPr txBox="1"/>
          <p:nvPr/>
        </p:nvSpPr>
        <p:spPr>
          <a:xfrm>
            <a:off x="7406640" y="4389120"/>
            <a:ext cx="4206240" cy="777240"/>
          </a:xfrm>
          <a:prstGeom prst="rect">
            <a:avLst/>
          </a:prstGeom>
          <a:noFill/>
          <a:ln/>
        </p:spPr>
        <p:txBody>
          <a:bodyPr wrap="square" lIns="0" tIns="0" rIns="0" bIns="0" rtlCol="0" anchor="t"/>
          <a:lstStyle/>
          <a:p>
            <a:pPr indent="0" marL="0">
              <a:buNone/>
            </a:pPr>
            <a:r>
              <a:rPr lang="en-US" sz="1500" dirty="0">
                <a:solidFill>
                  <a:schemeClr val="tx1"/>
                </a:solidFill>
              </a:rPr>
              <a:t>The model is pinned to Nemotron, and the report logs the model that actually answered</a:t>
            </a:r>
            <a:endParaRPr lang="en-US" sz="1500" dirty="0"/>
          </a:p>
        </p:txBody>
      </p:sp>
      <p:sp>
        <p:nvSpPr>
          <p:cNvPr id="12" name="Power point 3 dot"/>
          <p:cNvSpPr/>
          <p:nvPr/>
        </p:nvSpPr>
        <p:spPr>
          <a:xfrm>
            <a:off x="6903720" y="5294376"/>
            <a:ext cx="292608" cy="292608"/>
          </a:xfrm>
          <a:prstGeom prst="ellipse">
            <a:avLst/>
          </a:prstGeom>
          <a:solidFill>
            <a:schemeClr val="accent5"/>
          </a:solidFill>
          <a:ln w="12700">
            <a:solidFill>
              <a:schemeClr val="accent5"/>
            </a:solidFill>
            <a:prstDash val="solid"/>
          </a:ln>
        </p:spPr>
      </p:sp>
      <p:sp>
        <p:nvSpPr>
          <p:cNvPr id="13" name="Power point 3"/>
          <p:cNvSpPr txBox="1"/>
          <p:nvPr/>
        </p:nvSpPr>
        <p:spPr>
          <a:xfrm>
            <a:off x="7406640" y="5257800"/>
            <a:ext cx="4206240" cy="777240"/>
          </a:xfrm>
          <a:prstGeom prst="rect">
            <a:avLst/>
          </a:prstGeom>
          <a:noFill/>
          <a:ln/>
        </p:spPr>
        <p:txBody>
          <a:bodyPr wrap="square" lIns="0" tIns="0" rIns="0" bIns="0" rtlCol="0" anchor="t"/>
          <a:lstStyle/>
          <a:p>
            <a:pPr indent="0" marL="0">
              <a:buNone/>
            </a:pPr>
            <a:r>
              <a:rPr lang="en-US" sz="1500" dirty="0">
                <a:solidFill>
                  <a:schemeClr val="tx1"/>
                </a:solidFill>
              </a:rPr>
              <a:t>Provider keys stay in Nightshift; the app holds only the Runtime URL and token</a:t>
            </a:r>
            <a:endParaRPr lang="en-US" sz="15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TRUST</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Every model sentence is checked before it's shown</a:t>
            </a:r>
            <a:endParaRPr lang="en-US" sz="3400" dirty="0"/>
          </a:p>
        </p:txBody>
      </p:sp>
      <p:sp>
        <p:nvSpPr>
          <p:cNvPr id="4" name="Guardrail 1 card"/>
          <p:cNvSpPr/>
          <p:nvPr/>
        </p:nvSpPr>
        <p:spPr>
          <a:xfrm>
            <a:off x="548640" y="1554480"/>
            <a:ext cx="5394960" cy="1600200"/>
          </a:xfrm>
          <a:prstGeom prst="roundRect">
            <a:avLst>
              <a:gd name="adj" fmla="val 6857"/>
            </a:avLst>
          </a:prstGeom>
          <a:solidFill>
            <a:schemeClr val="bg2"/>
          </a:solidFill>
          <a:ln w="12700">
            <a:solidFill>
              <a:schemeClr val="bg2"/>
            </a:solidFill>
            <a:prstDash val="solid"/>
          </a:ln>
        </p:spPr>
      </p:sp>
      <p:sp>
        <p:nvSpPr>
          <p:cNvPr id="5" name="Guardrail 1 badge"/>
          <p:cNvSpPr/>
          <p:nvPr/>
        </p:nvSpPr>
        <p:spPr>
          <a:xfrm>
            <a:off x="868680" y="1874520"/>
            <a:ext cx="502920" cy="502920"/>
          </a:xfrm>
          <a:prstGeom prst="ellipse">
            <a:avLst/>
          </a:prstGeom>
          <a:solidFill>
            <a:schemeClr val="accent2"/>
          </a:solidFill>
          <a:ln w="12700">
            <a:solidFill>
              <a:schemeClr val="accent2"/>
            </a:solidFill>
            <a:prstDash val="solid"/>
          </a:ln>
        </p:spPr>
      </p:sp>
      <p:sp>
        <p:nvSpPr>
          <p:cNvPr id="6" name="Guardrail 1 badge label"/>
          <p:cNvSpPr txBox="1"/>
          <p:nvPr/>
        </p:nvSpPr>
        <p:spPr>
          <a:xfrm>
            <a:off x="868680" y="18745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Guardrail 1 heading"/>
          <p:cNvSpPr txBox="1"/>
          <p:nvPr/>
        </p:nvSpPr>
        <p:spPr>
          <a:xfrm>
            <a:off x="1600200" y="1828800"/>
            <a:ext cx="4114800" cy="347472"/>
          </a:xfrm>
          <a:prstGeom prst="rect">
            <a:avLst/>
          </a:prstGeom>
          <a:noFill/>
          <a:ln/>
        </p:spPr>
        <p:txBody>
          <a:bodyPr wrap="square" lIns="0" tIns="0" rIns="0" bIns="0" rtlCol="0" anchor="t"/>
          <a:lstStyle/>
          <a:p>
            <a:pPr indent="0" marL="0">
              <a:buNone/>
            </a:pPr>
            <a:r>
              <a:rPr lang="en-US" sz="1900" b="1" dirty="0">
                <a:solidFill>
                  <a:schemeClr val="tx1"/>
                </a:solidFill>
              </a:rPr>
              <a:t>Claim checker</a:t>
            </a:r>
            <a:endParaRPr lang="en-US" sz="1900" dirty="0"/>
          </a:p>
        </p:txBody>
      </p:sp>
      <p:sp>
        <p:nvSpPr>
          <p:cNvPr id="8" name="Guardrail 1 text"/>
          <p:cNvSpPr txBox="1"/>
          <p:nvPr/>
        </p:nvSpPr>
        <p:spPr>
          <a:xfrm>
            <a:off x="1600200" y="2267712"/>
            <a:ext cx="4114800" cy="822960"/>
          </a:xfrm>
          <a:prstGeom prst="rect">
            <a:avLst/>
          </a:prstGeom>
          <a:noFill/>
          <a:ln/>
        </p:spPr>
        <p:txBody>
          <a:bodyPr wrap="square" lIns="0" tIns="0" rIns="0" bIns="0" rtlCol="0" anchor="t"/>
          <a:lstStyle/>
          <a:p>
            <a:pPr indent="0" marL="0">
              <a:buNone/>
            </a:pPr>
            <a:r>
              <a:rPr lang="en-US" sz="1400" dirty="0">
                <a:solidFill>
                  <a:schemeClr val="tx2"/>
                </a:solidFill>
              </a:rPr>
              <a:t>Every number and date must appear in the findings or the evidence. Dates in words, ordinals and thousands are read too.</a:t>
            </a:r>
            <a:endParaRPr lang="en-US" sz="1400" dirty="0"/>
          </a:p>
        </p:txBody>
      </p:sp>
      <p:sp>
        <p:nvSpPr>
          <p:cNvPr id="9" name="Guardrail 2 card"/>
          <p:cNvSpPr/>
          <p:nvPr/>
        </p:nvSpPr>
        <p:spPr>
          <a:xfrm>
            <a:off x="6217920" y="1554480"/>
            <a:ext cx="5394960" cy="1600200"/>
          </a:xfrm>
          <a:prstGeom prst="roundRect">
            <a:avLst>
              <a:gd name="adj" fmla="val 6857"/>
            </a:avLst>
          </a:prstGeom>
          <a:solidFill>
            <a:schemeClr val="bg2"/>
          </a:solidFill>
          <a:ln w="12700">
            <a:solidFill>
              <a:schemeClr val="bg2"/>
            </a:solidFill>
            <a:prstDash val="solid"/>
          </a:ln>
        </p:spPr>
      </p:sp>
      <p:sp>
        <p:nvSpPr>
          <p:cNvPr id="10" name="Guardrail 2 badge"/>
          <p:cNvSpPr/>
          <p:nvPr/>
        </p:nvSpPr>
        <p:spPr>
          <a:xfrm>
            <a:off x="6537960" y="1874520"/>
            <a:ext cx="502920" cy="502920"/>
          </a:xfrm>
          <a:prstGeom prst="ellipse">
            <a:avLst/>
          </a:prstGeom>
          <a:solidFill>
            <a:schemeClr val="accent2"/>
          </a:solidFill>
          <a:ln w="12700">
            <a:solidFill>
              <a:schemeClr val="accent2"/>
            </a:solidFill>
            <a:prstDash val="solid"/>
          </a:ln>
        </p:spPr>
      </p:sp>
      <p:sp>
        <p:nvSpPr>
          <p:cNvPr id="11" name="Guardrail 2 badge label"/>
          <p:cNvSpPr txBox="1"/>
          <p:nvPr/>
        </p:nvSpPr>
        <p:spPr>
          <a:xfrm>
            <a:off x="6537960" y="18745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Guardrail 2 heading"/>
          <p:cNvSpPr txBox="1"/>
          <p:nvPr/>
        </p:nvSpPr>
        <p:spPr>
          <a:xfrm>
            <a:off x="7269480" y="1828800"/>
            <a:ext cx="4114800" cy="347472"/>
          </a:xfrm>
          <a:prstGeom prst="rect">
            <a:avLst/>
          </a:prstGeom>
          <a:noFill/>
          <a:ln/>
        </p:spPr>
        <p:txBody>
          <a:bodyPr wrap="square" lIns="0" tIns="0" rIns="0" bIns="0" rtlCol="0" anchor="t"/>
          <a:lstStyle/>
          <a:p>
            <a:pPr indent="0" marL="0">
              <a:buNone/>
            </a:pPr>
            <a:r>
              <a:rPr lang="en-US" sz="1900" b="1" dirty="0">
                <a:solidFill>
                  <a:schemeClr val="tx1"/>
                </a:solidFill>
              </a:rPr>
              <a:t>Discard, don't caveat</a:t>
            </a:r>
            <a:endParaRPr lang="en-US" sz="1900" dirty="0"/>
          </a:p>
        </p:txBody>
      </p:sp>
      <p:sp>
        <p:nvSpPr>
          <p:cNvPr id="13" name="Guardrail 2 text"/>
          <p:cNvSpPr txBox="1"/>
          <p:nvPr/>
        </p:nvSpPr>
        <p:spPr>
          <a:xfrm>
            <a:off x="7269480" y="2267712"/>
            <a:ext cx="4114800" cy="822960"/>
          </a:xfrm>
          <a:prstGeom prst="rect">
            <a:avLst/>
          </a:prstGeom>
          <a:noFill/>
          <a:ln/>
        </p:spPr>
        <p:txBody>
          <a:bodyPr wrap="square" lIns="0" tIns="0" rIns="0" bIns="0" rtlCol="0" anchor="t"/>
          <a:lstStyle/>
          <a:p>
            <a:pPr indent="0" marL="0">
              <a:buNone/>
            </a:pPr>
            <a:r>
              <a:rPr lang="en-US" sz="1400" dirty="0">
                <a:solidFill>
                  <a:schemeClr val="tx2"/>
                </a:solidFill>
              </a:rPr>
              <a:t>Prose with one unsupported figure is thrown away, and the computed wording is shown instead.</a:t>
            </a:r>
            <a:endParaRPr lang="en-US" sz="1400" dirty="0"/>
          </a:p>
        </p:txBody>
      </p:sp>
      <p:sp>
        <p:nvSpPr>
          <p:cNvPr id="14" name="Guardrail 3 card"/>
          <p:cNvSpPr/>
          <p:nvPr/>
        </p:nvSpPr>
        <p:spPr>
          <a:xfrm>
            <a:off x="548640" y="3383280"/>
            <a:ext cx="5394960" cy="1600200"/>
          </a:xfrm>
          <a:prstGeom prst="roundRect">
            <a:avLst>
              <a:gd name="adj" fmla="val 6857"/>
            </a:avLst>
          </a:prstGeom>
          <a:solidFill>
            <a:schemeClr val="bg2"/>
          </a:solidFill>
          <a:ln w="12700">
            <a:solidFill>
              <a:schemeClr val="bg2"/>
            </a:solidFill>
            <a:prstDash val="solid"/>
          </a:ln>
        </p:spPr>
      </p:sp>
      <p:sp>
        <p:nvSpPr>
          <p:cNvPr id="15" name="Guardrail 3 badge"/>
          <p:cNvSpPr/>
          <p:nvPr/>
        </p:nvSpPr>
        <p:spPr>
          <a:xfrm>
            <a:off x="868680" y="3703320"/>
            <a:ext cx="502920" cy="502920"/>
          </a:xfrm>
          <a:prstGeom prst="ellipse">
            <a:avLst/>
          </a:prstGeom>
          <a:solidFill>
            <a:schemeClr val="accent2"/>
          </a:solidFill>
          <a:ln w="12700">
            <a:solidFill>
              <a:schemeClr val="accent2"/>
            </a:solidFill>
            <a:prstDash val="solid"/>
          </a:ln>
        </p:spPr>
      </p:sp>
      <p:sp>
        <p:nvSpPr>
          <p:cNvPr id="16" name="Guardrail 3 badge label"/>
          <p:cNvSpPr txBox="1"/>
          <p:nvPr/>
        </p:nvSpPr>
        <p:spPr>
          <a:xfrm>
            <a:off x="868680" y="3703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Guardrail 3 heading"/>
          <p:cNvSpPr txBox="1"/>
          <p:nvPr/>
        </p:nvSpPr>
        <p:spPr>
          <a:xfrm>
            <a:off x="1600200" y="3657600"/>
            <a:ext cx="4114800" cy="347472"/>
          </a:xfrm>
          <a:prstGeom prst="rect">
            <a:avLst/>
          </a:prstGeom>
          <a:noFill/>
          <a:ln/>
        </p:spPr>
        <p:txBody>
          <a:bodyPr wrap="square" lIns="0" tIns="0" rIns="0" bIns="0" rtlCol="0" anchor="t"/>
          <a:lstStyle/>
          <a:p>
            <a:pPr indent="0" marL="0">
              <a:buNone/>
            </a:pPr>
            <a:r>
              <a:rPr lang="en-US" sz="1900" b="1" dirty="0">
                <a:solidFill>
                  <a:schemeClr val="tx1"/>
                </a:solidFill>
              </a:rPr>
              <a:t>No cut-off answers</a:t>
            </a:r>
            <a:endParaRPr lang="en-US" sz="1900" dirty="0"/>
          </a:p>
        </p:txBody>
      </p:sp>
      <p:sp>
        <p:nvSpPr>
          <p:cNvPr id="18" name="Guardrail 3 text"/>
          <p:cNvSpPr txBox="1"/>
          <p:nvPr/>
        </p:nvSpPr>
        <p:spPr>
          <a:xfrm>
            <a:off x="1600200" y="4096512"/>
            <a:ext cx="4114800" cy="822960"/>
          </a:xfrm>
          <a:prstGeom prst="rect">
            <a:avLst/>
          </a:prstGeom>
          <a:noFill/>
          <a:ln/>
        </p:spPr>
        <p:txBody>
          <a:bodyPr wrap="square" lIns="0" tIns="0" rIns="0" bIns="0" rtlCol="0" anchor="t"/>
          <a:lstStyle/>
          <a:p>
            <a:pPr indent="0" marL="0">
              <a:buNone/>
            </a:pPr>
            <a:r>
              <a:rPr lang="en-US" sz="1400" dirty="0">
                <a:solidFill>
                  <a:schemeClr val="tx2"/>
                </a:solidFill>
              </a:rPr>
              <a:t>Empty or truncated replies are retried, up to three times, and never published.</a:t>
            </a:r>
            <a:endParaRPr lang="en-US" sz="1400" dirty="0"/>
          </a:p>
        </p:txBody>
      </p:sp>
      <p:sp>
        <p:nvSpPr>
          <p:cNvPr id="19" name="Guardrail 4 card"/>
          <p:cNvSpPr/>
          <p:nvPr/>
        </p:nvSpPr>
        <p:spPr>
          <a:xfrm>
            <a:off x="6217920" y="3383280"/>
            <a:ext cx="5394960" cy="1600200"/>
          </a:xfrm>
          <a:prstGeom prst="roundRect">
            <a:avLst>
              <a:gd name="adj" fmla="val 6857"/>
            </a:avLst>
          </a:prstGeom>
          <a:solidFill>
            <a:schemeClr val="bg2"/>
          </a:solidFill>
          <a:ln w="12700">
            <a:solidFill>
              <a:schemeClr val="bg2"/>
            </a:solidFill>
            <a:prstDash val="solid"/>
          </a:ln>
        </p:spPr>
      </p:sp>
      <p:sp>
        <p:nvSpPr>
          <p:cNvPr id="20" name="Guardrail 4 badge"/>
          <p:cNvSpPr/>
          <p:nvPr/>
        </p:nvSpPr>
        <p:spPr>
          <a:xfrm>
            <a:off x="6537960" y="3703320"/>
            <a:ext cx="502920" cy="502920"/>
          </a:xfrm>
          <a:prstGeom prst="ellipse">
            <a:avLst/>
          </a:prstGeom>
          <a:solidFill>
            <a:schemeClr val="accent2"/>
          </a:solidFill>
          <a:ln w="12700">
            <a:solidFill>
              <a:schemeClr val="accent2"/>
            </a:solidFill>
            <a:prstDash val="solid"/>
          </a:ln>
        </p:spPr>
      </p:sp>
      <p:sp>
        <p:nvSpPr>
          <p:cNvPr id="21" name="Guardrail 4 badge label"/>
          <p:cNvSpPr txBox="1"/>
          <p:nvPr/>
        </p:nvSpPr>
        <p:spPr>
          <a:xfrm>
            <a:off x="6537960" y="37033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2" name="Guardrail 4 heading"/>
          <p:cNvSpPr txBox="1"/>
          <p:nvPr/>
        </p:nvSpPr>
        <p:spPr>
          <a:xfrm>
            <a:off x="7269480" y="3657600"/>
            <a:ext cx="4114800" cy="347472"/>
          </a:xfrm>
          <a:prstGeom prst="rect">
            <a:avLst/>
          </a:prstGeom>
          <a:noFill/>
          <a:ln/>
        </p:spPr>
        <p:txBody>
          <a:bodyPr wrap="square" lIns="0" tIns="0" rIns="0" bIns="0" rtlCol="0" anchor="t"/>
          <a:lstStyle/>
          <a:p>
            <a:pPr indent="0" marL="0">
              <a:buNone/>
            </a:pPr>
            <a:r>
              <a:rPr lang="en-US" sz="1900" b="1" dirty="0">
                <a:solidFill>
                  <a:schemeClr val="tx1"/>
                </a:solidFill>
              </a:rPr>
              <a:t>A bounded role</a:t>
            </a:r>
            <a:endParaRPr lang="en-US" sz="1900" dirty="0"/>
          </a:p>
        </p:txBody>
      </p:sp>
      <p:sp>
        <p:nvSpPr>
          <p:cNvPr id="23" name="Guardrail 4 text"/>
          <p:cNvSpPr txBox="1"/>
          <p:nvPr/>
        </p:nvSpPr>
        <p:spPr>
          <a:xfrm>
            <a:off x="7269480" y="4096512"/>
            <a:ext cx="4114800" cy="822960"/>
          </a:xfrm>
          <a:prstGeom prst="rect">
            <a:avLst/>
          </a:prstGeom>
          <a:noFill/>
          <a:ln/>
        </p:spPr>
        <p:txBody>
          <a:bodyPr wrap="square" lIns="0" tIns="0" rIns="0" bIns="0" rtlCol="0" anchor="t"/>
          <a:lstStyle/>
          <a:p>
            <a:pPr indent="0" marL="0">
              <a:buNone/>
            </a:pPr>
            <a:r>
              <a:rPr lang="en-US" sz="1400" dirty="0">
                <a:solidFill>
                  <a:schemeClr val="tx2"/>
                </a:solidFill>
              </a:rPr>
              <a:t>The model writes the explanation only. An outage degrades the prose, never the verdict.</a:t>
            </a:r>
            <a:endParaRPr lang="en-US" sz="1400" dirty="0"/>
          </a:p>
        </p:txBody>
      </p:sp>
      <p:sp>
        <p:nvSpPr>
          <p:cNvPr id="24" name="Checker quote"/>
          <p:cNvSpPr txBox="1"/>
          <p:nvPr/>
        </p:nvSpPr>
        <p:spPr>
          <a:xfrm>
            <a:off x="548640" y="5349240"/>
            <a:ext cx="11064240" cy="365760"/>
          </a:xfrm>
          <a:prstGeom prst="rect">
            <a:avLst/>
          </a:prstGeom>
          <a:noFill/>
          <a:ln/>
        </p:spPr>
        <p:txBody>
          <a:bodyPr wrap="square" lIns="0" tIns="0" rIns="0" bIns="0" rtlCol="0" anchor="t"/>
          <a:lstStyle/>
          <a:p>
            <a:pPr indent="0" marL="0">
              <a:buNone/>
            </a:pPr>
            <a:r>
              <a:rPr lang="en-US" sz="1500" dirty="0">
                <a:solidFill>
                  <a:schemeClr val="accent2"/>
                </a:solidFill>
                <a:latin typeface="Consolas" pitchFamily="34" charset="0"/>
                <a:ea typeface="Consolas" pitchFamily="34" charset="-122"/>
                <a:cs typeface="Consolas" pitchFamily="34" charset="-120"/>
              </a:rPr>
              <a:t>“Every one of the 16 figures above was checked against the evidence before publishing.”</a:t>
            </a:r>
            <a:endParaRPr lang="en-US" sz="1500" dirty="0"/>
          </a:p>
        </p:txBody>
      </p:sp>
      <p:sp>
        <p:nvSpPr>
          <p:cNvPr id="25" name="Quote caption"/>
          <p:cNvSpPr txBox="1"/>
          <p:nvPr/>
        </p:nvSpPr>
        <p:spPr>
          <a:xfrm>
            <a:off x="548640" y="5760720"/>
            <a:ext cx="5486400" cy="274320"/>
          </a:xfrm>
          <a:prstGeom prst="rect">
            <a:avLst/>
          </a:prstGeom>
          <a:noFill/>
          <a:ln/>
        </p:spPr>
        <p:txBody>
          <a:bodyPr wrap="square" lIns="0" tIns="0" rIns="0" bIns="0" rtlCol="0" anchor="t"/>
          <a:lstStyle/>
          <a:p>
            <a:pPr indent="0" marL="0">
              <a:buNone/>
            </a:pPr>
            <a:r>
              <a:rPr lang="en-US" sz="1100" i="1" dirty="0">
                <a:solidFill>
                  <a:schemeClr val="tx2"/>
                </a:solidFill>
              </a:rPr>
              <a:t>From the live report's explanation section</a:t>
            </a:r>
            <a:endParaRPr lang="en-US" sz="11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PROOF</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Verified on a live stack</a:t>
            </a:r>
            <a:endParaRPr lang="en-US" sz="3400" dirty="0"/>
          </a:p>
        </p:txBody>
      </p:sp>
      <p:sp>
        <p:nvSpPr>
          <p:cNvPr id="4" name="Stat 1 card"/>
          <p:cNvSpPr/>
          <p:nvPr/>
        </p:nvSpPr>
        <p:spPr>
          <a:xfrm>
            <a:off x="548640" y="1508760"/>
            <a:ext cx="3520440" cy="2377440"/>
          </a:xfrm>
          <a:prstGeom prst="roundRect">
            <a:avLst>
              <a:gd name="adj" fmla="val 4615"/>
            </a:avLst>
          </a:prstGeom>
          <a:solidFill>
            <a:schemeClr val="bg2"/>
          </a:solidFill>
          <a:ln w="12700">
            <a:solidFill>
              <a:schemeClr val="bg2"/>
            </a:solidFill>
            <a:prstDash val="solid"/>
          </a:ln>
        </p:spPr>
      </p:sp>
      <p:sp>
        <p:nvSpPr>
          <p:cNvPr id="5" name="Stat 1 value"/>
          <p:cNvSpPr txBox="1"/>
          <p:nvPr/>
        </p:nvSpPr>
        <p:spPr>
          <a:xfrm>
            <a:off x="548640" y="1691640"/>
            <a:ext cx="3520440" cy="914400"/>
          </a:xfrm>
          <a:prstGeom prst="rect">
            <a:avLst/>
          </a:prstGeom>
          <a:noFill/>
          <a:ln/>
        </p:spPr>
        <p:txBody>
          <a:bodyPr wrap="square" lIns="0" tIns="0" rIns="0" bIns="0" rtlCol="0" anchor="t"/>
          <a:lstStyle/>
          <a:p>
            <a:pPr algn="ctr" indent="0" marL="0">
              <a:buNone/>
            </a:pPr>
            <a:r>
              <a:rPr lang="en-US" sz="5400" b="1" dirty="0">
                <a:solidFill>
                  <a:schemeClr val="accent2"/>
                </a:solidFill>
              </a:rPr>
              <a:t>6/6</a:t>
            </a:r>
            <a:endParaRPr lang="en-US" sz="5400" dirty="0"/>
          </a:p>
        </p:txBody>
      </p:sp>
      <p:sp>
        <p:nvSpPr>
          <p:cNvPr id="6" name="Stat 1 label"/>
          <p:cNvSpPr txBox="1"/>
          <p:nvPr/>
        </p:nvSpPr>
        <p:spPr>
          <a:xfrm>
            <a:off x="548640" y="2651760"/>
            <a:ext cx="3520440" cy="411480"/>
          </a:xfrm>
          <a:prstGeom prst="rect">
            <a:avLst/>
          </a:prstGeom>
          <a:noFill/>
          <a:ln/>
        </p:spPr>
        <p:txBody>
          <a:bodyPr wrap="square" lIns="0" tIns="0" rIns="0" bIns="0" rtlCol="0" anchor="t"/>
          <a:lstStyle/>
          <a:p>
            <a:pPr algn="ctr" indent="0" marL="0">
              <a:buNone/>
            </a:pPr>
            <a:r>
              <a:rPr lang="en-US" sz="1800" b="1" dirty="0">
                <a:solidFill>
                  <a:schemeClr val="tx1"/>
                </a:solidFill>
              </a:rPr>
              <a:t>setup checks</a:t>
            </a:r>
            <a:endParaRPr lang="en-US" sz="1800" dirty="0"/>
          </a:p>
        </p:txBody>
      </p:sp>
      <p:sp>
        <p:nvSpPr>
          <p:cNvPr id="7" name="Stat 1 sub"/>
          <p:cNvSpPr txBox="1"/>
          <p:nvPr/>
        </p:nvSpPr>
        <p:spPr>
          <a:xfrm>
            <a:off x="822960" y="3108960"/>
            <a:ext cx="2971800" cy="640080"/>
          </a:xfrm>
          <a:prstGeom prst="rect">
            <a:avLst/>
          </a:prstGeom>
          <a:noFill/>
          <a:ln/>
        </p:spPr>
        <p:txBody>
          <a:bodyPr wrap="square" lIns="0" tIns="0" rIns="0" bIns="0" rtlCol="0" anchor="t"/>
          <a:lstStyle/>
          <a:p>
            <a:pPr algn="ctr" indent="0" marL="0">
              <a:buNone/>
            </a:pPr>
            <a:r>
              <a:rPr lang="en-US" sz="1200" dirty="0">
                <a:solidFill>
                  <a:schemeClr val="tx2"/>
                </a:solidFill>
              </a:rPr>
              <a:t>npm run smoke: Zetaris, Nightshift + Nemotron, H-MEM</a:t>
            </a:r>
            <a:endParaRPr lang="en-US" sz="1200" dirty="0"/>
          </a:p>
        </p:txBody>
      </p:sp>
      <p:sp>
        <p:nvSpPr>
          <p:cNvPr id="8" name="Stat 2 card"/>
          <p:cNvSpPr/>
          <p:nvPr/>
        </p:nvSpPr>
        <p:spPr>
          <a:xfrm>
            <a:off x="4320540" y="1508760"/>
            <a:ext cx="3520440" cy="2377440"/>
          </a:xfrm>
          <a:prstGeom prst="roundRect">
            <a:avLst>
              <a:gd name="adj" fmla="val 4615"/>
            </a:avLst>
          </a:prstGeom>
          <a:solidFill>
            <a:schemeClr val="bg2"/>
          </a:solidFill>
          <a:ln w="12700">
            <a:solidFill>
              <a:schemeClr val="bg2"/>
            </a:solidFill>
            <a:prstDash val="solid"/>
          </a:ln>
        </p:spPr>
      </p:sp>
      <p:sp>
        <p:nvSpPr>
          <p:cNvPr id="9" name="Stat 2 value"/>
          <p:cNvSpPr txBox="1"/>
          <p:nvPr/>
        </p:nvSpPr>
        <p:spPr>
          <a:xfrm>
            <a:off x="4320540" y="1691640"/>
            <a:ext cx="3520440" cy="914400"/>
          </a:xfrm>
          <a:prstGeom prst="rect">
            <a:avLst/>
          </a:prstGeom>
          <a:noFill/>
          <a:ln/>
        </p:spPr>
        <p:txBody>
          <a:bodyPr wrap="square" lIns="0" tIns="0" rIns="0" bIns="0" rtlCol="0" anchor="t"/>
          <a:lstStyle/>
          <a:p>
            <a:pPr algn="ctr" indent="0" marL="0">
              <a:buNone/>
            </a:pPr>
            <a:r>
              <a:rPr lang="en-US" sz="5400" b="1" dirty="0">
                <a:solidFill>
                  <a:schemeClr val="accent2"/>
                </a:solidFill>
              </a:rPr>
              <a:t>39/39</a:t>
            </a:r>
            <a:endParaRPr lang="en-US" sz="5400" dirty="0"/>
          </a:p>
        </p:txBody>
      </p:sp>
      <p:sp>
        <p:nvSpPr>
          <p:cNvPr id="10" name="Stat 2 label"/>
          <p:cNvSpPr txBox="1"/>
          <p:nvPr/>
        </p:nvSpPr>
        <p:spPr>
          <a:xfrm>
            <a:off x="4320540" y="2651760"/>
            <a:ext cx="3520440" cy="411480"/>
          </a:xfrm>
          <a:prstGeom prst="rect">
            <a:avLst/>
          </a:prstGeom>
          <a:noFill/>
          <a:ln/>
        </p:spPr>
        <p:txBody>
          <a:bodyPr wrap="square" lIns="0" tIns="0" rIns="0" bIns="0" rtlCol="0" anchor="t"/>
          <a:lstStyle/>
          <a:p>
            <a:pPr algn="ctr" indent="0" marL="0">
              <a:buNone/>
            </a:pPr>
            <a:r>
              <a:rPr lang="en-US" sz="1800" b="1" dirty="0">
                <a:solidFill>
                  <a:schemeClr val="tx1"/>
                </a:solidFill>
              </a:rPr>
              <a:t>tests passing</a:t>
            </a:r>
            <a:endParaRPr lang="en-US" sz="1800" dirty="0"/>
          </a:p>
        </p:txBody>
      </p:sp>
      <p:sp>
        <p:nvSpPr>
          <p:cNvPr id="11" name="Stat 2 sub"/>
          <p:cNvSpPr txBox="1"/>
          <p:nvPr/>
        </p:nvSpPr>
        <p:spPr>
          <a:xfrm>
            <a:off x="4594860" y="3108960"/>
            <a:ext cx="2971800" cy="640080"/>
          </a:xfrm>
          <a:prstGeom prst="rect">
            <a:avLst/>
          </a:prstGeom>
          <a:noFill/>
          <a:ln/>
        </p:spPr>
        <p:txBody>
          <a:bodyPr wrap="square" lIns="0" tIns="0" rIns="0" bIns="0" rtlCol="0" anchor="t"/>
          <a:lstStyle/>
          <a:p>
            <a:pPr algn="ctr" indent="0" marL="0">
              <a:buNone/>
            </a:pPr>
            <a:r>
              <a:rPr lang="en-US" sz="1200" dirty="0">
                <a:solidFill>
                  <a:schemeClr val="tx2"/>
                </a:solidFill>
              </a:rPr>
              <a:t>npm test, from a clean clone</a:t>
            </a:r>
            <a:endParaRPr lang="en-US" sz="1200" dirty="0"/>
          </a:p>
        </p:txBody>
      </p:sp>
      <p:sp>
        <p:nvSpPr>
          <p:cNvPr id="12" name="Stat 3 card"/>
          <p:cNvSpPr/>
          <p:nvPr/>
        </p:nvSpPr>
        <p:spPr>
          <a:xfrm>
            <a:off x="8092440" y="1508760"/>
            <a:ext cx="3520440" cy="2377440"/>
          </a:xfrm>
          <a:prstGeom prst="roundRect">
            <a:avLst>
              <a:gd name="adj" fmla="val 4615"/>
            </a:avLst>
          </a:prstGeom>
          <a:solidFill>
            <a:schemeClr val="bg2"/>
          </a:solidFill>
          <a:ln w="12700">
            <a:solidFill>
              <a:schemeClr val="bg2"/>
            </a:solidFill>
            <a:prstDash val="solid"/>
          </a:ln>
        </p:spPr>
      </p:sp>
      <p:sp>
        <p:nvSpPr>
          <p:cNvPr id="13" name="Stat 3 value"/>
          <p:cNvSpPr txBox="1"/>
          <p:nvPr/>
        </p:nvSpPr>
        <p:spPr>
          <a:xfrm>
            <a:off x="8092440" y="1691640"/>
            <a:ext cx="3520440" cy="914400"/>
          </a:xfrm>
          <a:prstGeom prst="rect">
            <a:avLst/>
          </a:prstGeom>
          <a:noFill/>
          <a:ln/>
        </p:spPr>
        <p:txBody>
          <a:bodyPr wrap="square" lIns="0" tIns="0" rIns="0" bIns="0" rtlCol="0" anchor="t"/>
          <a:lstStyle/>
          <a:p>
            <a:pPr algn="ctr" indent="0" marL="0">
              <a:buNone/>
            </a:pPr>
            <a:r>
              <a:rPr lang="en-US" sz="5400" b="1" dirty="0">
                <a:solidFill>
                  <a:schemeClr val="accent2"/>
                </a:solidFill>
              </a:rPr>
              <a:t>13/13</a:t>
            </a:r>
            <a:endParaRPr lang="en-US" sz="5400" dirty="0"/>
          </a:p>
        </p:txBody>
      </p:sp>
      <p:sp>
        <p:nvSpPr>
          <p:cNvPr id="14" name="Stat 3 label"/>
          <p:cNvSpPr txBox="1"/>
          <p:nvPr/>
        </p:nvSpPr>
        <p:spPr>
          <a:xfrm>
            <a:off x="8092440" y="2651760"/>
            <a:ext cx="3520440" cy="411480"/>
          </a:xfrm>
          <a:prstGeom prst="rect">
            <a:avLst/>
          </a:prstGeom>
          <a:noFill/>
          <a:ln/>
        </p:spPr>
        <p:txBody>
          <a:bodyPr wrap="square" lIns="0" tIns="0" rIns="0" bIns="0" rtlCol="0" anchor="t"/>
          <a:lstStyle/>
          <a:p>
            <a:pPr algn="ctr" indent="0" marL="0">
              <a:buNone/>
            </a:pPr>
            <a:r>
              <a:rPr lang="en-US" sz="1800" b="1" dirty="0">
                <a:solidFill>
                  <a:schemeClr val="tx1"/>
                </a:solidFill>
              </a:rPr>
              <a:t>H-MEM conformance</a:t>
            </a:r>
            <a:endParaRPr lang="en-US" sz="1800" dirty="0"/>
          </a:p>
        </p:txBody>
      </p:sp>
      <p:sp>
        <p:nvSpPr>
          <p:cNvPr id="15" name="Stat 3 sub"/>
          <p:cNvSpPr txBox="1"/>
          <p:nvPr/>
        </p:nvSpPr>
        <p:spPr>
          <a:xfrm>
            <a:off x="8366760" y="3108960"/>
            <a:ext cx="2971800" cy="640080"/>
          </a:xfrm>
          <a:prstGeom prst="rect">
            <a:avLst/>
          </a:prstGeom>
          <a:noFill/>
          <a:ln/>
        </p:spPr>
        <p:txBody>
          <a:bodyPr wrap="square" lIns="0" tIns="0" rIns="0" bIns="0" rtlCol="0" anchor="t"/>
          <a:lstStyle/>
          <a:p>
            <a:pPr algn="ctr" indent="0" marL="0">
              <a:buNone/>
            </a:pPr>
            <a:r>
              <a:rPr lang="en-US" sz="1200" dirty="0">
                <a:solidFill>
                  <a:schemeClr val="tx2"/>
                </a:solidFill>
              </a:rPr>
              <a:t>the canonical upstream runner</a:t>
            </a:r>
            <a:endParaRPr lang="en-US" sz="1200" dirty="0"/>
          </a:p>
        </p:txBody>
      </p:sp>
      <p:sp>
        <p:nvSpPr>
          <p:cNvPr id="16" name="Proof point 1 dot"/>
          <p:cNvSpPr/>
          <p:nvPr/>
        </p:nvSpPr>
        <p:spPr>
          <a:xfrm>
            <a:off x="548640" y="4288536"/>
            <a:ext cx="292608" cy="292608"/>
          </a:xfrm>
          <a:prstGeom prst="ellipse">
            <a:avLst/>
          </a:prstGeom>
          <a:solidFill>
            <a:schemeClr val="accent2"/>
          </a:solidFill>
          <a:ln w="12700">
            <a:solidFill>
              <a:schemeClr val="accent2"/>
            </a:solidFill>
            <a:prstDash val="solid"/>
          </a:ln>
        </p:spPr>
      </p:sp>
      <p:sp>
        <p:nvSpPr>
          <p:cNvPr id="17" name="Proof point 1"/>
          <p:cNvSpPr txBox="1"/>
          <p:nvPr/>
        </p:nvSpPr>
        <p:spPr>
          <a:xfrm>
            <a:off x="1051560" y="4251960"/>
            <a:ext cx="6446520" cy="548640"/>
          </a:xfrm>
          <a:prstGeom prst="rect">
            <a:avLst/>
          </a:prstGeom>
          <a:noFill/>
          <a:ln/>
        </p:spPr>
        <p:txBody>
          <a:bodyPr wrap="square" lIns="0" tIns="0" rIns="0" bIns="0" rtlCol="0" anchor="t"/>
          <a:lstStyle/>
          <a:p>
            <a:pPr indent="0" marL="0">
              <a:buNone/>
            </a:pPr>
            <a:r>
              <a:rPr lang="en-US" sz="1500" dirty="0">
                <a:solidFill>
                  <a:schemeClr val="tx1"/>
                </a:solidFill>
              </a:rPr>
              <a:t>Live and sample mode reach the same verdict, word for word</a:t>
            </a:r>
            <a:endParaRPr lang="en-US" sz="1500" dirty="0"/>
          </a:p>
        </p:txBody>
      </p:sp>
      <p:sp>
        <p:nvSpPr>
          <p:cNvPr id="18" name="Proof point 2 dot"/>
          <p:cNvSpPr/>
          <p:nvPr/>
        </p:nvSpPr>
        <p:spPr>
          <a:xfrm>
            <a:off x="548640" y="4928616"/>
            <a:ext cx="292608" cy="292608"/>
          </a:xfrm>
          <a:prstGeom prst="ellipse">
            <a:avLst/>
          </a:prstGeom>
          <a:solidFill>
            <a:schemeClr val="accent2"/>
          </a:solidFill>
          <a:ln w="12700">
            <a:solidFill>
              <a:schemeClr val="accent2"/>
            </a:solidFill>
            <a:prstDash val="solid"/>
          </a:ln>
        </p:spPr>
      </p:sp>
      <p:sp>
        <p:nvSpPr>
          <p:cNvPr id="19" name="Proof point 2"/>
          <p:cNvSpPr txBox="1"/>
          <p:nvPr/>
        </p:nvSpPr>
        <p:spPr>
          <a:xfrm>
            <a:off x="1051560" y="4892040"/>
            <a:ext cx="6446520" cy="548640"/>
          </a:xfrm>
          <a:prstGeom prst="rect">
            <a:avLst/>
          </a:prstGeom>
          <a:noFill/>
          <a:ln/>
        </p:spPr>
        <p:txBody>
          <a:bodyPr wrap="square" lIns="0" tIns="0" rIns="0" bIns="0" rtlCol="0" anchor="t"/>
          <a:lstStyle/>
          <a:p>
            <a:pPr indent="0" marL="0">
              <a:buNone/>
            </a:pPr>
            <a:r>
              <a:rPr lang="en-US" sz="1500" dirty="0">
                <a:solidFill>
                  <a:schemeClr val="tx1"/>
                </a:solidFill>
              </a:rPr>
              <a:t>All six tables count back exactly through Zetaris</a:t>
            </a:r>
            <a:endParaRPr lang="en-US" sz="1500" dirty="0"/>
          </a:p>
        </p:txBody>
      </p:sp>
      <p:sp>
        <p:nvSpPr>
          <p:cNvPr id="20" name="Proof point 3 dot"/>
          <p:cNvSpPr/>
          <p:nvPr/>
        </p:nvSpPr>
        <p:spPr>
          <a:xfrm>
            <a:off x="548640" y="5568696"/>
            <a:ext cx="292608" cy="292608"/>
          </a:xfrm>
          <a:prstGeom prst="ellipse">
            <a:avLst/>
          </a:prstGeom>
          <a:solidFill>
            <a:schemeClr val="accent2"/>
          </a:solidFill>
          <a:ln w="12700">
            <a:solidFill>
              <a:schemeClr val="accent2"/>
            </a:solidFill>
            <a:prstDash val="solid"/>
          </a:ln>
        </p:spPr>
      </p:sp>
      <p:sp>
        <p:nvSpPr>
          <p:cNvPr id="21" name="Proof point 3"/>
          <p:cNvSpPr txBox="1"/>
          <p:nvPr/>
        </p:nvSpPr>
        <p:spPr>
          <a:xfrm>
            <a:off x="1051560" y="5532120"/>
            <a:ext cx="6446520" cy="548640"/>
          </a:xfrm>
          <a:prstGeom prst="rect">
            <a:avLst/>
          </a:prstGeom>
          <a:noFill/>
          <a:ln/>
        </p:spPr>
        <p:txBody>
          <a:bodyPr wrap="square" lIns="0" tIns="0" rIns="0" bIns="0" rtlCol="0" anchor="t"/>
          <a:lstStyle/>
          <a:p>
            <a:pPr indent="0" marL="0">
              <a:buNone/>
            </a:pPr>
            <a:r>
              <a:rPr lang="en-US" sz="1500" dirty="0">
                <a:solidFill>
                  <a:schemeClr val="tx1"/>
                </a:solidFill>
              </a:rPr>
              <a:t>Nemotron answers through Nightshift, every figure verified</a:t>
            </a:r>
            <a:endParaRPr lang="en-US" sz="1500" dirty="0"/>
          </a:p>
        </p:txBody>
      </p:sp>
      <p:pic>
        <p:nvPicPr>
          <p:cNvPr id="22" name="OpenRouter screenshot" descr="OpenRouter activity page showing requests from the Meterless Runtime app; keys hidden">    </p:cNvPr>
          <p:cNvPicPr>
            <a:picLocks noChangeAspect="1"/>
          </p:cNvPicPr>
          <p:nvPr/>
        </p:nvPicPr>
        <p:blipFill>
          <a:blip r:embed="rId1"/>
          <a:stretch>
            <a:fillRect/>
          </a:stretch>
        </p:blipFill>
        <p:spPr>
          <a:xfrm>
            <a:off x="7498080" y="4114800"/>
            <a:ext cx="4114800" cy="2127365"/>
          </a:xfrm>
          <a:prstGeom prst="rect">
            <a:avLst/>
          </a:prstGeom>
        </p:spPr>
      </p:pic>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HONEST LIMITS</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What we don't claim</a:t>
            </a:r>
            <a:endParaRPr lang="en-US" sz="3400" dirty="0"/>
          </a:p>
        </p:txBody>
      </p:sp>
      <p:sp>
        <p:nvSpPr>
          <p:cNvPr id="4" name="Limit 1 card"/>
          <p:cNvSpPr/>
          <p:nvPr/>
        </p:nvSpPr>
        <p:spPr>
          <a:xfrm>
            <a:off x="548640" y="1554480"/>
            <a:ext cx="3520440" cy="2057400"/>
          </a:xfrm>
          <a:prstGeom prst="roundRect">
            <a:avLst>
              <a:gd name="adj" fmla="val 5333"/>
            </a:avLst>
          </a:prstGeom>
          <a:solidFill>
            <a:schemeClr val="bg2"/>
          </a:solidFill>
          <a:ln w="12700">
            <a:solidFill>
              <a:schemeClr val="bg2"/>
            </a:solidFill>
            <a:prstDash val="solid"/>
          </a:ln>
        </p:spPr>
      </p:sp>
      <p:sp>
        <p:nvSpPr>
          <p:cNvPr id="5" name="Limit 1 badge"/>
          <p:cNvSpPr/>
          <p:nvPr/>
        </p:nvSpPr>
        <p:spPr>
          <a:xfrm>
            <a:off x="822960" y="1847088"/>
            <a:ext cx="384048" cy="384048"/>
          </a:xfrm>
          <a:prstGeom prst="ellipse">
            <a:avLst/>
          </a:prstGeom>
          <a:solidFill>
            <a:schemeClr val="accent1"/>
          </a:solidFill>
          <a:ln w="12700">
            <a:solidFill>
              <a:schemeClr val="accent1"/>
            </a:solidFill>
            <a:prstDash val="solid"/>
          </a:ln>
        </p:spPr>
      </p:sp>
      <p:sp>
        <p:nvSpPr>
          <p:cNvPr id="6" name="Limit 1 badge label"/>
          <p:cNvSpPr txBox="1"/>
          <p:nvPr/>
        </p:nvSpPr>
        <p:spPr>
          <a:xfrm>
            <a:off x="822960" y="18470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7" name="Limit 1 heading"/>
          <p:cNvSpPr txBox="1"/>
          <p:nvPr/>
        </p:nvSpPr>
        <p:spPr>
          <a:xfrm>
            <a:off x="1371600" y="1856232"/>
            <a:ext cx="2560320" cy="310896"/>
          </a:xfrm>
          <a:prstGeom prst="rect">
            <a:avLst/>
          </a:prstGeom>
          <a:noFill/>
          <a:ln/>
        </p:spPr>
        <p:txBody>
          <a:bodyPr wrap="square" lIns="0" tIns="0" rIns="0" bIns="0" rtlCol="0" anchor="t"/>
          <a:lstStyle/>
          <a:p>
            <a:pPr indent="0" marL="0">
              <a:buNone/>
            </a:pPr>
            <a:r>
              <a:rPr lang="en-US" sz="1700" b="1" dirty="0">
                <a:solidFill>
                  <a:schemeClr val="tx1"/>
                </a:solidFill>
              </a:rPr>
              <a:t>Synthetic data</a:t>
            </a:r>
            <a:endParaRPr lang="en-US" sz="1700" dirty="0"/>
          </a:p>
        </p:txBody>
      </p:sp>
      <p:sp>
        <p:nvSpPr>
          <p:cNvPr id="8" name="Limit 1 text"/>
          <p:cNvSpPr txBox="1"/>
          <p:nvPr/>
        </p:nvSpPr>
        <p:spPr>
          <a:xfrm>
            <a:off x="822960" y="2423160"/>
            <a:ext cx="3017520" cy="1097280"/>
          </a:xfrm>
          <a:prstGeom prst="rect">
            <a:avLst/>
          </a:prstGeom>
          <a:noFill/>
          <a:ln/>
        </p:spPr>
        <p:txBody>
          <a:bodyPr wrap="square" lIns="0" tIns="0" rIns="0" bIns="0" rtlCol="0" anchor="t"/>
          <a:lstStyle/>
          <a:p>
            <a:pPr indent="0" marL="0">
              <a:buNone/>
            </a:pPr>
            <a:r>
              <a:rPr lang="en-US" sz="1400" dirty="0">
                <a:solidFill>
                  <a:schemeClr val="tx2"/>
                </a:solidFill>
              </a:rPr>
              <a:t>180 days simulated day by day, with one injected fault and one distractor. No claim about a real retailer's books.</a:t>
            </a:r>
            <a:endParaRPr lang="en-US" sz="1400" dirty="0"/>
          </a:p>
        </p:txBody>
      </p:sp>
      <p:sp>
        <p:nvSpPr>
          <p:cNvPr id="9" name="Limit 2 card"/>
          <p:cNvSpPr/>
          <p:nvPr/>
        </p:nvSpPr>
        <p:spPr>
          <a:xfrm>
            <a:off x="4320540" y="1554480"/>
            <a:ext cx="3520440" cy="2057400"/>
          </a:xfrm>
          <a:prstGeom prst="roundRect">
            <a:avLst>
              <a:gd name="adj" fmla="val 5333"/>
            </a:avLst>
          </a:prstGeom>
          <a:solidFill>
            <a:schemeClr val="bg2"/>
          </a:solidFill>
          <a:ln w="12700">
            <a:solidFill>
              <a:schemeClr val="bg2"/>
            </a:solidFill>
            <a:prstDash val="solid"/>
          </a:ln>
        </p:spPr>
      </p:sp>
      <p:sp>
        <p:nvSpPr>
          <p:cNvPr id="10" name="Limit 2 badge"/>
          <p:cNvSpPr/>
          <p:nvPr/>
        </p:nvSpPr>
        <p:spPr>
          <a:xfrm>
            <a:off x="4594860" y="1847088"/>
            <a:ext cx="384048" cy="384048"/>
          </a:xfrm>
          <a:prstGeom prst="ellipse">
            <a:avLst/>
          </a:prstGeom>
          <a:solidFill>
            <a:schemeClr val="accent1"/>
          </a:solidFill>
          <a:ln w="12700">
            <a:solidFill>
              <a:schemeClr val="accent1"/>
            </a:solidFill>
            <a:prstDash val="solid"/>
          </a:ln>
        </p:spPr>
      </p:sp>
      <p:sp>
        <p:nvSpPr>
          <p:cNvPr id="11" name="Limit 2 badge label"/>
          <p:cNvSpPr txBox="1"/>
          <p:nvPr/>
        </p:nvSpPr>
        <p:spPr>
          <a:xfrm>
            <a:off x="4594860" y="18470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2" name="Limit 2 heading"/>
          <p:cNvSpPr txBox="1"/>
          <p:nvPr/>
        </p:nvSpPr>
        <p:spPr>
          <a:xfrm>
            <a:off x="5143500" y="1856232"/>
            <a:ext cx="2560320" cy="310896"/>
          </a:xfrm>
          <a:prstGeom prst="rect">
            <a:avLst/>
          </a:prstGeom>
          <a:noFill/>
          <a:ln/>
        </p:spPr>
        <p:txBody>
          <a:bodyPr wrap="square" lIns="0" tIns="0" rIns="0" bIns="0" rtlCol="0" anchor="t"/>
          <a:lstStyle/>
          <a:p>
            <a:pPr indent="0" marL="0">
              <a:buNone/>
            </a:pPr>
            <a:r>
              <a:rPr lang="en-US" sz="1700" b="1" dirty="0">
                <a:solidFill>
                  <a:schemeClr val="tx1"/>
                </a:solidFill>
              </a:rPr>
              <a:t>One true cause exercised</a:t>
            </a:r>
            <a:endParaRPr lang="en-US" sz="1700" dirty="0"/>
          </a:p>
        </p:txBody>
      </p:sp>
      <p:sp>
        <p:nvSpPr>
          <p:cNvPr id="13" name="Limit 2 text"/>
          <p:cNvSpPr txBox="1"/>
          <p:nvPr/>
        </p:nvSpPr>
        <p:spPr>
          <a:xfrm>
            <a:off x="4594860" y="2423160"/>
            <a:ext cx="3017520" cy="1097280"/>
          </a:xfrm>
          <a:prstGeom prst="rect">
            <a:avLst/>
          </a:prstGeom>
          <a:noFill/>
          <a:ln/>
        </p:spPr>
        <p:txBody>
          <a:bodyPr wrap="square" lIns="0" tIns="0" rIns="0" bIns="0" rtlCol="0" anchor="t"/>
          <a:lstStyle/>
          <a:p>
            <a:pPr indent="0" marL="0">
              <a:buNone/>
            </a:pPr>
            <a:r>
              <a:rPr lang="en-US" sz="1400" dirty="0">
                <a:solidFill>
                  <a:schemeClr val="tx2"/>
                </a:solidFill>
              </a:rPr>
              <a:t>All five causes are tested, but only the lead-time slip is exercised as the true cause.</a:t>
            </a:r>
            <a:endParaRPr lang="en-US" sz="1400" dirty="0"/>
          </a:p>
        </p:txBody>
      </p:sp>
      <p:sp>
        <p:nvSpPr>
          <p:cNvPr id="14" name="Limit 3 card"/>
          <p:cNvSpPr/>
          <p:nvPr/>
        </p:nvSpPr>
        <p:spPr>
          <a:xfrm>
            <a:off x="8092440" y="1554480"/>
            <a:ext cx="3520440" cy="2057400"/>
          </a:xfrm>
          <a:prstGeom prst="roundRect">
            <a:avLst>
              <a:gd name="adj" fmla="val 5333"/>
            </a:avLst>
          </a:prstGeom>
          <a:solidFill>
            <a:schemeClr val="bg2"/>
          </a:solidFill>
          <a:ln w="12700">
            <a:solidFill>
              <a:schemeClr val="bg2"/>
            </a:solidFill>
            <a:prstDash val="solid"/>
          </a:ln>
        </p:spPr>
      </p:sp>
      <p:sp>
        <p:nvSpPr>
          <p:cNvPr id="15" name="Limit 3 badge"/>
          <p:cNvSpPr/>
          <p:nvPr/>
        </p:nvSpPr>
        <p:spPr>
          <a:xfrm>
            <a:off x="8366760" y="1847088"/>
            <a:ext cx="384048" cy="384048"/>
          </a:xfrm>
          <a:prstGeom prst="ellipse">
            <a:avLst/>
          </a:prstGeom>
          <a:solidFill>
            <a:schemeClr val="accent1"/>
          </a:solidFill>
          <a:ln w="12700">
            <a:solidFill>
              <a:schemeClr val="accent1"/>
            </a:solidFill>
            <a:prstDash val="solid"/>
          </a:ln>
        </p:spPr>
      </p:sp>
      <p:sp>
        <p:nvSpPr>
          <p:cNvPr id="16" name="Limit 3 badge label"/>
          <p:cNvSpPr txBox="1"/>
          <p:nvPr/>
        </p:nvSpPr>
        <p:spPr>
          <a:xfrm>
            <a:off x="8366760" y="18470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7" name="Limit 3 heading"/>
          <p:cNvSpPr txBox="1"/>
          <p:nvPr/>
        </p:nvSpPr>
        <p:spPr>
          <a:xfrm>
            <a:off x="8915400" y="1856232"/>
            <a:ext cx="2560320" cy="310896"/>
          </a:xfrm>
          <a:prstGeom prst="rect">
            <a:avLst/>
          </a:prstGeom>
          <a:noFill/>
          <a:ln/>
        </p:spPr>
        <p:txBody>
          <a:bodyPr wrap="square" lIns="0" tIns="0" rIns="0" bIns="0" rtlCol="0" anchor="t"/>
          <a:lstStyle/>
          <a:p>
            <a:pPr indent="0" marL="0">
              <a:buNone/>
            </a:pPr>
            <a:r>
              <a:rPr lang="en-US" sz="1700" b="1" dirty="0">
                <a:solidFill>
                  <a:schemeClr val="tx1"/>
                </a:solidFill>
              </a:rPr>
              <a:t>Local Zetaris only</a:t>
            </a:r>
            <a:endParaRPr lang="en-US" sz="1700" dirty="0"/>
          </a:p>
        </p:txBody>
      </p:sp>
      <p:sp>
        <p:nvSpPr>
          <p:cNvPr id="18" name="Limit 3 text"/>
          <p:cNvSpPr txBox="1"/>
          <p:nvPr/>
        </p:nvSpPr>
        <p:spPr>
          <a:xfrm>
            <a:off x="8366760" y="2423160"/>
            <a:ext cx="3017520" cy="1097280"/>
          </a:xfrm>
          <a:prstGeom prst="rect">
            <a:avLst/>
          </a:prstGeom>
          <a:noFill/>
          <a:ln/>
        </p:spPr>
        <p:txBody>
          <a:bodyPr wrap="square" lIns="0" tIns="0" rIns="0" bIns="0" rtlCol="0" anchor="t"/>
          <a:lstStyle/>
          <a:p>
            <a:pPr indent="0" marL="0">
              <a:buNone/>
            </a:pPr>
            <a:r>
              <a:rPr lang="en-US" sz="1400" dirty="0">
                <a:solidFill>
                  <a:schemeClr val="tx2"/>
                </a:solidFill>
              </a:rPr>
              <a:t>The live path is verified against Zetaris running in Docker, not a hosted instance.</a:t>
            </a:r>
            <a:endParaRPr lang="en-US" sz="1400" dirty="0"/>
          </a:p>
        </p:txBody>
      </p:sp>
      <p:sp>
        <p:nvSpPr>
          <p:cNvPr id="19" name="Limit 4 card"/>
          <p:cNvSpPr/>
          <p:nvPr/>
        </p:nvSpPr>
        <p:spPr>
          <a:xfrm>
            <a:off x="548640" y="3840480"/>
            <a:ext cx="3520440" cy="2057400"/>
          </a:xfrm>
          <a:prstGeom prst="roundRect">
            <a:avLst>
              <a:gd name="adj" fmla="val 5333"/>
            </a:avLst>
          </a:prstGeom>
          <a:solidFill>
            <a:schemeClr val="bg2"/>
          </a:solidFill>
          <a:ln w="12700">
            <a:solidFill>
              <a:schemeClr val="bg2"/>
            </a:solidFill>
            <a:prstDash val="solid"/>
          </a:ln>
        </p:spPr>
      </p:sp>
      <p:sp>
        <p:nvSpPr>
          <p:cNvPr id="20" name="Limit 4 badge"/>
          <p:cNvSpPr/>
          <p:nvPr/>
        </p:nvSpPr>
        <p:spPr>
          <a:xfrm>
            <a:off x="822960" y="4133088"/>
            <a:ext cx="384048" cy="384048"/>
          </a:xfrm>
          <a:prstGeom prst="ellipse">
            <a:avLst/>
          </a:prstGeom>
          <a:solidFill>
            <a:schemeClr val="accent1"/>
          </a:solidFill>
          <a:ln w="12700">
            <a:solidFill>
              <a:schemeClr val="accent1"/>
            </a:solidFill>
            <a:prstDash val="solid"/>
          </a:ln>
        </p:spPr>
      </p:sp>
      <p:sp>
        <p:nvSpPr>
          <p:cNvPr id="21" name="Limit 4 badge label"/>
          <p:cNvSpPr txBox="1"/>
          <p:nvPr/>
        </p:nvSpPr>
        <p:spPr>
          <a:xfrm>
            <a:off x="822960" y="41330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22" name="Limit 4 heading"/>
          <p:cNvSpPr txBox="1"/>
          <p:nvPr/>
        </p:nvSpPr>
        <p:spPr>
          <a:xfrm>
            <a:off x="1371600" y="4142232"/>
            <a:ext cx="2560320" cy="310896"/>
          </a:xfrm>
          <a:prstGeom prst="rect">
            <a:avLst/>
          </a:prstGeom>
          <a:noFill/>
          <a:ln/>
        </p:spPr>
        <p:txBody>
          <a:bodyPr wrap="square" lIns="0" tIns="0" rIns="0" bIns="0" rtlCol="0" anchor="t"/>
          <a:lstStyle/>
          <a:p>
            <a:pPr indent="0" marL="0">
              <a:buNone/>
            </a:pPr>
            <a:r>
              <a:rPr lang="en-US" sz="1700" b="1" dirty="0">
                <a:solidFill>
                  <a:schemeClr val="tx1"/>
                </a:solidFill>
              </a:rPr>
              <a:t>Simple recall</a:t>
            </a:r>
            <a:endParaRPr lang="en-US" sz="1700" dirty="0"/>
          </a:p>
        </p:txBody>
      </p:sp>
      <p:sp>
        <p:nvSpPr>
          <p:cNvPr id="23" name="Limit 4 text"/>
          <p:cNvSpPr txBox="1"/>
          <p:nvPr/>
        </p:nvSpPr>
        <p:spPr>
          <a:xfrm>
            <a:off x="822960" y="4709160"/>
            <a:ext cx="3017520" cy="1097280"/>
          </a:xfrm>
          <a:prstGeom prst="rect">
            <a:avLst/>
          </a:prstGeom>
          <a:noFill/>
          <a:ln/>
        </p:spPr>
        <p:txBody>
          <a:bodyPr wrap="square" lIns="0" tIns="0" rIns="0" bIns="0" rtlCol="0" anchor="t"/>
          <a:lstStyle/>
          <a:p>
            <a:pPr indent="0" marL="0">
              <a:buNone/>
            </a:pPr>
            <a:r>
              <a:rPr lang="en-US" sz="1400" dirty="0">
                <a:solidFill>
                  <a:schemeClr val="tx2"/>
                </a:solidFill>
              </a:rPr>
              <a:t>H-MEM's embedder is a bag-of-words projection: it matches shared vocabulary, not paraphrase.</a:t>
            </a:r>
            <a:endParaRPr lang="en-US" sz="1400" dirty="0"/>
          </a:p>
        </p:txBody>
      </p:sp>
      <p:sp>
        <p:nvSpPr>
          <p:cNvPr id="24" name="Limit 5 card"/>
          <p:cNvSpPr/>
          <p:nvPr/>
        </p:nvSpPr>
        <p:spPr>
          <a:xfrm>
            <a:off x="4320540" y="3840480"/>
            <a:ext cx="3520440" cy="2057400"/>
          </a:xfrm>
          <a:prstGeom prst="roundRect">
            <a:avLst>
              <a:gd name="adj" fmla="val 5333"/>
            </a:avLst>
          </a:prstGeom>
          <a:solidFill>
            <a:schemeClr val="bg2"/>
          </a:solidFill>
          <a:ln w="12700">
            <a:solidFill>
              <a:schemeClr val="bg2"/>
            </a:solidFill>
            <a:prstDash val="solid"/>
          </a:ln>
        </p:spPr>
      </p:sp>
      <p:sp>
        <p:nvSpPr>
          <p:cNvPr id="25" name="Limit 5 badge"/>
          <p:cNvSpPr/>
          <p:nvPr/>
        </p:nvSpPr>
        <p:spPr>
          <a:xfrm>
            <a:off x="4594860" y="4133088"/>
            <a:ext cx="384048" cy="384048"/>
          </a:xfrm>
          <a:prstGeom prst="ellipse">
            <a:avLst/>
          </a:prstGeom>
          <a:solidFill>
            <a:schemeClr val="accent1"/>
          </a:solidFill>
          <a:ln w="12700">
            <a:solidFill>
              <a:schemeClr val="accent1"/>
            </a:solidFill>
            <a:prstDash val="solid"/>
          </a:ln>
        </p:spPr>
      </p:sp>
      <p:sp>
        <p:nvSpPr>
          <p:cNvPr id="26" name="Limit 5 badge label"/>
          <p:cNvSpPr txBox="1"/>
          <p:nvPr/>
        </p:nvSpPr>
        <p:spPr>
          <a:xfrm>
            <a:off x="4594860" y="41330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27" name="Limit 5 heading"/>
          <p:cNvSpPr txBox="1"/>
          <p:nvPr/>
        </p:nvSpPr>
        <p:spPr>
          <a:xfrm>
            <a:off x="5143500" y="4142232"/>
            <a:ext cx="2560320" cy="310896"/>
          </a:xfrm>
          <a:prstGeom prst="rect">
            <a:avLst/>
          </a:prstGeom>
          <a:noFill/>
          <a:ln/>
        </p:spPr>
        <p:txBody>
          <a:bodyPr wrap="square" lIns="0" tIns="0" rIns="0" bIns="0" rtlCol="0" anchor="t"/>
          <a:lstStyle/>
          <a:p>
            <a:pPr indent="0" marL="0">
              <a:buNone/>
            </a:pPr>
            <a:r>
              <a:rPr lang="en-US" sz="1700" b="1" dirty="0">
                <a:solidFill>
                  <a:schemeClr val="tx1"/>
                </a:solidFill>
              </a:rPr>
              <a:t>Figures, not wording</a:t>
            </a:r>
            <a:endParaRPr lang="en-US" sz="1700" dirty="0"/>
          </a:p>
        </p:txBody>
      </p:sp>
      <p:sp>
        <p:nvSpPr>
          <p:cNvPr id="28" name="Limit 5 text"/>
          <p:cNvSpPr txBox="1"/>
          <p:nvPr/>
        </p:nvSpPr>
        <p:spPr>
          <a:xfrm>
            <a:off x="4594860" y="4709160"/>
            <a:ext cx="3017520" cy="1097280"/>
          </a:xfrm>
          <a:prstGeom prst="rect">
            <a:avLst/>
          </a:prstGeom>
          <a:noFill/>
          <a:ln/>
        </p:spPr>
        <p:txBody>
          <a:bodyPr wrap="square" lIns="0" tIns="0" rIns="0" bIns="0" rtlCol="0" anchor="t"/>
          <a:lstStyle/>
          <a:p>
            <a:pPr indent="0" marL="0">
              <a:buNone/>
            </a:pPr>
            <a:r>
              <a:rPr lang="en-US" sz="1400" dirty="0">
                <a:solidFill>
                  <a:schemeClr val="tx2"/>
                </a:solidFill>
              </a:rPr>
              <a:t>The claim checker stops invented numbers, not a correct number in a loosely worded sentence.</a:t>
            </a:r>
            <a:endParaRPr lang="en-US" sz="1400" dirty="0"/>
          </a:p>
        </p:txBody>
      </p:sp>
      <p:sp>
        <p:nvSpPr>
          <p:cNvPr id="29" name="Limit 6 card"/>
          <p:cNvSpPr/>
          <p:nvPr/>
        </p:nvSpPr>
        <p:spPr>
          <a:xfrm>
            <a:off x="8092440" y="3840480"/>
            <a:ext cx="3520440" cy="2057400"/>
          </a:xfrm>
          <a:prstGeom prst="roundRect">
            <a:avLst>
              <a:gd name="adj" fmla="val 5333"/>
            </a:avLst>
          </a:prstGeom>
          <a:solidFill>
            <a:schemeClr val="bg2"/>
          </a:solidFill>
          <a:ln w="12700">
            <a:solidFill>
              <a:schemeClr val="bg2"/>
            </a:solidFill>
            <a:prstDash val="solid"/>
          </a:ln>
        </p:spPr>
      </p:sp>
      <p:sp>
        <p:nvSpPr>
          <p:cNvPr id="30" name="Limit 6 badge"/>
          <p:cNvSpPr/>
          <p:nvPr/>
        </p:nvSpPr>
        <p:spPr>
          <a:xfrm>
            <a:off x="8366760" y="4133088"/>
            <a:ext cx="384048" cy="384048"/>
          </a:xfrm>
          <a:prstGeom prst="ellipse">
            <a:avLst/>
          </a:prstGeom>
          <a:solidFill>
            <a:schemeClr val="accent1"/>
          </a:solidFill>
          <a:ln w="12700">
            <a:solidFill>
              <a:schemeClr val="accent1"/>
            </a:solidFill>
            <a:prstDash val="solid"/>
          </a:ln>
        </p:spPr>
      </p:sp>
      <p:sp>
        <p:nvSpPr>
          <p:cNvPr id="31" name="Limit 6 badge label"/>
          <p:cNvSpPr txBox="1"/>
          <p:nvPr/>
        </p:nvSpPr>
        <p:spPr>
          <a:xfrm>
            <a:off x="8366760" y="41330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32" name="Limit 6 heading"/>
          <p:cNvSpPr txBox="1"/>
          <p:nvPr/>
        </p:nvSpPr>
        <p:spPr>
          <a:xfrm>
            <a:off x="8915400" y="4142232"/>
            <a:ext cx="2560320" cy="310896"/>
          </a:xfrm>
          <a:prstGeom prst="rect">
            <a:avLst/>
          </a:prstGeom>
          <a:noFill/>
          <a:ln/>
        </p:spPr>
        <p:txBody>
          <a:bodyPr wrap="square" lIns="0" tIns="0" rIns="0" bIns="0" rtlCol="0" anchor="t"/>
          <a:lstStyle/>
          <a:p>
            <a:pPr indent="0" marL="0">
              <a:buNone/>
            </a:pPr>
            <a:r>
              <a:rPr lang="en-US" sz="1700" b="1" dirty="0">
                <a:solidFill>
                  <a:schemeClr val="tx1"/>
                </a:solidFill>
              </a:rPr>
              <a:t>Variable latency</a:t>
            </a:r>
            <a:endParaRPr lang="en-US" sz="1700" dirty="0"/>
          </a:p>
        </p:txBody>
      </p:sp>
      <p:sp>
        <p:nvSpPr>
          <p:cNvPr id="33" name="Limit 6 text"/>
          <p:cNvSpPr txBox="1"/>
          <p:nvPr/>
        </p:nvSpPr>
        <p:spPr>
          <a:xfrm>
            <a:off x="8366760" y="4709160"/>
            <a:ext cx="3017520" cy="1097280"/>
          </a:xfrm>
          <a:prstGeom prst="rect">
            <a:avLst/>
          </a:prstGeom>
          <a:noFill/>
          <a:ln/>
        </p:spPr>
        <p:txBody>
          <a:bodyPr wrap="square" lIns="0" tIns="0" rIns="0" bIns="0" rtlCol="0" anchor="t"/>
          <a:lstStyle/>
          <a:p>
            <a:pPr indent="0" marL="0">
              <a:buNone/>
            </a:pPr>
            <a:r>
              <a:rPr lang="en-US" sz="1400" dirty="0">
                <a:solidFill>
                  <a:schemeClr val="tx2"/>
                </a:solidFill>
              </a:rPr>
              <a:t>Nemotron via OpenRouter takes 6 s to about 2 minutes, depending on the upstream provider. The app retries.</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TRY IT</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Run it yourself</a:t>
            </a:r>
            <a:endParaRPr lang="en-US" sz="3400" dirty="0"/>
          </a:p>
        </p:txBody>
      </p:sp>
      <p:sp>
        <p:nvSpPr>
          <p:cNvPr id="4" name="Mode 1 heading"/>
          <p:cNvSpPr txBox="1"/>
          <p:nvPr/>
        </p:nvSpPr>
        <p:spPr>
          <a:xfrm>
            <a:off x="548640" y="1508760"/>
            <a:ext cx="5394960" cy="329184"/>
          </a:xfrm>
          <a:prstGeom prst="rect">
            <a:avLst/>
          </a:prstGeom>
          <a:noFill/>
          <a:ln/>
        </p:spPr>
        <p:txBody>
          <a:bodyPr wrap="square" lIns="0" tIns="0" rIns="0" bIns="0" rtlCol="0" anchor="t"/>
          <a:lstStyle/>
          <a:p>
            <a:pPr indent="0" marL="0">
              <a:buNone/>
            </a:pPr>
            <a:r>
              <a:rPr lang="en-US" sz="1800" b="1" dirty="0">
                <a:solidFill>
                  <a:schemeClr val="accent2"/>
                </a:solidFill>
              </a:rPr>
              <a:t>Sample mode: no keys, no network</a:t>
            </a:r>
            <a:endParaRPr lang="en-US" sz="1800" dirty="0"/>
          </a:p>
        </p:txBody>
      </p:sp>
      <p:sp>
        <p:nvSpPr>
          <p:cNvPr id="5" name="Mode 1 commands"/>
          <p:cNvSpPr/>
          <p:nvPr/>
        </p:nvSpPr>
        <p:spPr>
          <a:xfrm>
            <a:off x="548640" y="2011680"/>
            <a:ext cx="5394960" cy="1600200"/>
          </a:xfrm>
          <a:prstGeom prst="roundRect">
            <a:avLst>
              <a:gd name="adj" fmla="val 6857"/>
            </a:avLst>
          </a:prstGeom>
          <a:solidFill>
            <a:schemeClr val="bg2"/>
          </a:solidFill>
          <a:ln w="12700">
            <a:solidFill>
              <a:schemeClr val="bg2"/>
            </a:solidFill>
            <a:prstDash val="solid"/>
          </a:ln>
        </p:spPr>
      </p:sp>
      <p:sp>
        <p:nvSpPr>
          <p:cNvPr id="6" name="Mode 1 commands text"/>
          <p:cNvSpPr txBox="1"/>
          <p:nvPr/>
        </p:nvSpPr>
        <p:spPr>
          <a:xfrm>
            <a:off x="777240" y="2212848"/>
            <a:ext cx="5029200" cy="1234440"/>
          </a:xfrm>
          <a:prstGeom prst="rect">
            <a:avLst/>
          </a:prstGeom>
          <a:noFill/>
          <a:ln/>
        </p:spPr>
        <p:txBody>
          <a:bodyPr wrap="square" lIns="0" tIns="0" rIns="0" bIns="0" rtlCol="0" anchor="t"/>
          <a:lstStyle/>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npm install</a:t>
            </a:r>
            <a:endParaRPr lang="en-US" sz="1400" dirty="0"/>
          </a:p>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npm run gen-data</a:t>
            </a:r>
            <a:endParaRPr lang="en-US" sz="1400" dirty="0"/>
          </a:p>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npm run investigate -- --sku SKU-1041 --sample</a:t>
            </a:r>
            <a:endParaRPr lang="en-US" sz="1400" dirty="0"/>
          </a:p>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npm test</a:t>
            </a:r>
            <a:endParaRPr lang="en-US" sz="1400" dirty="0"/>
          </a:p>
        </p:txBody>
      </p:sp>
      <p:sp>
        <p:nvSpPr>
          <p:cNvPr id="7" name="Mode 2 heading"/>
          <p:cNvSpPr txBox="1"/>
          <p:nvPr/>
        </p:nvSpPr>
        <p:spPr>
          <a:xfrm>
            <a:off x="6217920" y="1508760"/>
            <a:ext cx="5394960" cy="329184"/>
          </a:xfrm>
          <a:prstGeom prst="rect">
            <a:avLst/>
          </a:prstGeom>
          <a:noFill/>
          <a:ln/>
        </p:spPr>
        <p:txBody>
          <a:bodyPr wrap="square" lIns="0" tIns="0" rIns="0" bIns="0" rtlCol="0" anchor="t"/>
          <a:lstStyle/>
          <a:p>
            <a:pPr indent="0" marL="0">
              <a:buNone/>
            </a:pPr>
            <a:r>
              <a:rPr lang="en-US" sz="1800" b="1" dirty="0">
                <a:solidFill>
                  <a:schemeClr val="accent5"/>
                </a:solidFill>
              </a:rPr>
              <a:t>Live mode: Zetaris + Nightshift</a:t>
            </a:r>
            <a:endParaRPr lang="en-US" sz="1800" dirty="0"/>
          </a:p>
        </p:txBody>
      </p:sp>
      <p:sp>
        <p:nvSpPr>
          <p:cNvPr id="8" name="Mode 2 commands"/>
          <p:cNvSpPr/>
          <p:nvPr/>
        </p:nvSpPr>
        <p:spPr>
          <a:xfrm>
            <a:off x="6217920" y="2011680"/>
            <a:ext cx="5394960" cy="1600200"/>
          </a:xfrm>
          <a:prstGeom prst="roundRect">
            <a:avLst>
              <a:gd name="adj" fmla="val 6857"/>
            </a:avLst>
          </a:prstGeom>
          <a:solidFill>
            <a:schemeClr val="bg2"/>
          </a:solidFill>
          <a:ln w="12700">
            <a:solidFill>
              <a:schemeClr val="bg2"/>
            </a:solidFill>
            <a:prstDash val="solid"/>
          </a:ln>
        </p:spPr>
      </p:sp>
      <p:sp>
        <p:nvSpPr>
          <p:cNvPr id="9" name="Mode 2 commands text"/>
          <p:cNvSpPr txBox="1"/>
          <p:nvPr/>
        </p:nvSpPr>
        <p:spPr>
          <a:xfrm>
            <a:off x="6446520" y="2212848"/>
            <a:ext cx="5029200" cy="1234440"/>
          </a:xfrm>
          <a:prstGeom prst="rect">
            <a:avLst/>
          </a:prstGeom>
          <a:noFill/>
          <a:ln/>
        </p:spPr>
        <p:txBody>
          <a:bodyPr wrap="square" lIns="0" tIns="0" rIns="0" bIns="0" rtlCol="0" anchor="t"/>
          <a:lstStyle/>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cp .env.example .env</a:t>
            </a:r>
            <a:endParaRPr lang="en-US" sz="1400" dirty="0"/>
          </a:p>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npx tsx scripts/register_zetaris.ts --execute</a:t>
            </a:r>
            <a:endParaRPr lang="en-US" sz="1400" dirty="0"/>
          </a:p>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npm run smoke</a:t>
            </a:r>
            <a:endParaRPr lang="en-US" sz="1400" dirty="0"/>
          </a:p>
          <a:p>
            <a:pPr indent="0" marL="0">
              <a:spcAft>
                <a:spcPts val="200"/>
              </a:spcAft>
              <a:buNone/>
            </a:pPr>
            <a:r>
              <a:rPr lang="en-US" sz="1400" dirty="0">
                <a:solidFill>
                  <a:schemeClr val="tx1"/>
                </a:solidFill>
                <a:latin typeface="Consolas" pitchFamily="34" charset="0"/>
                <a:ea typeface="Consolas" pitchFamily="34" charset="-122"/>
                <a:cs typeface="Consolas" pitchFamily="34" charset="-120"/>
              </a:rPr>
              <a:t>$ npm run investigate -- --sku SKU-1041 --explain</a:t>
            </a:r>
            <a:endParaRPr lang="en-US" sz="1400" dirty="0"/>
          </a:p>
        </p:txBody>
      </p:sp>
      <p:sp>
        <p:nvSpPr>
          <p:cNvPr id="10" name="Repo link"/>
          <p:cNvSpPr txBox="1"/>
          <p:nvPr/>
        </p:nvSpPr>
        <p:spPr>
          <a:xfrm>
            <a:off x="548640" y="4023360"/>
            <a:ext cx="11064240" cy="411480"/>
          </a:xfrm>
          <a:prstGeom prst="rect">
            <a:avLst/>
          </a:prstGeom>
          <a:noFill/>
          <a:ln/>
        </p:spPr>
        <p:txBody>
          <a:bodyPr wrap="square" lIns="0" tIns="0" rIns="0" bIns="0" rtlCol="0" anchor="t"/>
          <a:lstStyle/>
          <a:p>
            <a:pPr indent="0" marL="0">
              <a:buNone/>
            </a:pPr>
            <a:r>
              <a:rPr lang="en-US" sz="1800" dirty="0">
                <a:solidFill>
                  <a:schemeClr val="tx2"/>
                </a:solidFill>
              </a:rPr>
              <a:t>Code: </a:t>
            </a:r>
            <a:pPr indent="0" marL="0">
              <a:buNone/>
            </a:pPr>
            <a:r>
              <a:rPr lang="en-US" sz="1800" u="sng" dirty="0">
                <a:solidFill>
                  <a:schemeClr val="accent3"/>
                </a:solidFill>
                <a:hlinkClick r:id="rId1" invalidUrl="" action="" tgtFrame="" tooltip="" history="1" highlightClick="0" endSnd="0">
                  <a:extLst>
                    <a:ext uri="{A12FA001-AC4F-418D-AE19-62706E023703}">
                      <ahyp:hlinkClr xmlns:ahyp="http://schemas.microsoft.com/office/drawing/2018/hyperlinkcolor" val="tx"/>
                    </a:ext>
                  </a:extLst>
                </a:hlinkClick>
              </a:rPr>
              <a:t>github.com/SohaibAamir28/stockout-why</a:t>
            </a:r>
            <a:endParaRPr lang="en-US" sz="1800" dirty="0"/>
          </a:p>
        </p:txBody>
      </p:sp>
      <p:sp>
        <p:nvSpPr>
          <p:cNvPr id="11" name="Run requirements"/>
          <p:cNvSpPr txBox="1"/>
          <p:nvPr/>
        </p:nvSpPr>
        <p:spPr>
          <a:xfrm>
            <a:off x="548640" y="4526280"/>
            <a:ext cx="11064240" cy="731520"/>
          </a:xfrm>
          <a:prstGeom prst="rect">
            <a:avLst/>
          </a:prstGeom>
          <a:noFill/>
          <a:ln/>
        </p:spPr>
        <p:txBody>
          <a:bodyPr wrap="square" lIns="0" tIns="0" rIns="0" bIns="0" rtlCol="0" anchor="t"/>
          <a:lstStyle/>
          <a:p>
            <a:pPr indent="0" marL="0">
              <a:buNone/>
            </a:pPr>
            <a:r>
              <a:rPr lang="en-US" sz="1400" dirty="0">
                <a:solidFill>
                  <a:schemeClr val="tx2"/>
                </a:solidFill>
              </a:rPr>
              <a:t>Needs Node 22. Live mode also needs a local Zetaris install and Meterless Nightshift; provider keys go in Nightshift's Providers tab, never in .env.</a:t>
            </a:r>
            <a:endParaRPr lang="en-US" sz="14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182880"/>
            <a:ext cx="1106424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BUILT BY</a:t>
            </a:r>
            <a:endParaRPr lang="en-US" sz="1200" dirty="0"/>
          </a:p>
        </p:txBody>
      </p:sp>
      <p:sp>
        <p:nvSpPr>
          <p:cNvPr id="3" name="Text 0"/>
          <p:cNvSpPr/>
          <p:nvPr>
            <p:ph idx="100" type="title" hasCustomPrompt="1"/>
          </p:nvPr>
        </p:nvSpPr>
        <p:spPr>
          <a:xfrm>
            <a:off x="548640" y="502920"/>
            <a:ext cx="11064240" cy="731520"/>
          </a:xfrm>
          <a:prstGeom prst="rect">
            <a:avLst/>
          </a:prstGeom>
          <a:noFill/>
          <a:ln/>
        </p:spPr>
        <p:txBody>
          <a:bodyPr wrap="square" lIns="0" tIns="0" rIns="0" bIns="0" rtlCol="0" anchor="t"/>
          <a:lstStyle/>
          <a:p>
            <a:pPr algn="l" indent="0" marL="0">
              <a:buNone/>
            </a:pPr>
            <a:r>
              <a:rPr lang="en-US" sz="3400" b="1" dirty="0">
                <a:solidFill>
                  <a:schemeClr val="tx1"/>
                </a:solidFill>
              </a:rPr>
              <a:t>Sohaib Aamir</a:t>
            </a:r>
            <a:endParaRPr lang="en-US" sz="3400" dirty="0"/>
          </a:p>
        </p:txBody>
      </p:sp>
      <p:pic>
        <p:nvPicPr>
          <p:cNvPr id="4" name="Builder photo" descr="Photo of Sohaib Aamir">    </p:cNvPr>
          <p:cNvPicPr>
            <a:picLocks noChangeAspect="1"/>
          </p:cNvPicPr>
          <p:nvPr/>
        </p:nvPicPr>
        <p:blipFill>
          <a:blip r:embed="rId1"/>
          <a:stretch>
            <a:fillRect/>
          </a:stretch>
        </p:blipFill>
        <p:spPr>
          <a:xfrm>
            <a:off x="548640" y="1600200"/>
            <a:ext cx="2468880" cy="2468880"/>
          </a:xfrm>
          <a:prstGeom prst="ellipse">
            <a:avLst/>
          </a:prstGeom>
        </p:spPr>
      </p:pic>
      <p:sp>
        <p:nvSpPr>
          <p:cNvPr id="5" name="Role"/>
          <p:cNvSpPr txBox="1"/>
          <p:nvPr/>
        </p:nvSpPr>
        <p:spPr>
          <a:xfrm>
            <a:off x="3429000" y="1600200"/>
            <a:ext cx="8138160" cy="411480"/>
          </a:xfrm>
          <a:prstGeom prst="rect">
            <a:avLst/>
          </a:prstGeom>
          <a:noFill/>
          <a:ln/>
        </p:spPr>
        <p:txBody>
          <a:bodyPr wrap="square" lIns="0" tIns="0" rIns="0" bIns="0" rtlCol="0" anchor="t"/>
          <a:lstStyle/>
          <a:p>
            <a:pPr indent="0" marL="0">
              <a:buNone/>
            </a:pPr>
            <a:r>
              <a:rPr lang="en-US" sz="2200" b="1" dirty="0">
                <a:solidFill>
                  <a:schemeClr val="tx1"/>
                </a:solidFill>
              </a:rPr>
              <a:t>AI Backend Engineer, NCAI, NUST</a:t>
            </a:r>
            <a:endParaRPr lang="en-US" sz="2200" dirty="0"/>
          </a:p>
        </p:txBody>
      </p:sp>
      <p:sp>
        <p:nvSpPr>
          <p:cNvPr id="6" name="Study"/>
          <p:cNvSpPr txBox="1"/>
          <p:nvPr/>
        </p:nvSpPr>
        <p:spPr>
          <a:xfrm>
            <a:off x="3429000" y="2057400"/>
            <a:ext cx="8138160" cy="365760"/>
          </a:xfrm>
          <a:prstGeom prst="rect">
            <a:avLst/>
          </a:prstGeom>
          <a:noFill/>
          <a:ln/>
        </p:spPr>
        <p:txBody>
          <a:bodyPr wrap="square" lIns="0" tIns="0" rIns="0" bIns="0" rtlCol="0" anchor="t"/>
          <a:lstStyle/>
          <a:p>
            <a:pPr indent="0" marL="0">
              <a:buNone/>
            </a:pPr>
            <a:r>
              <a:rPr lang="en-US" sz="1600" dirty="0">
                <a:solidFill>
                  <a:schemeClr val="tx2"/>
                </a:solidFill>
              </a:rPr>
              <a:t>MS Computer Science, NUST (2025–2027)</a:t>
            </a:r>
            <a:endParaRPr lang="en-US" sz="1600" dirty="0"/>
          </a:p>
        </p:txBody>
      </p:sp>
      <p:sp>
        <p:nvSpPr>
          <p:cNvPr id="7" name="Quote"/>
          <p:cNvSpPr txBox="1"/>
          <p:nvPr/>
        </p:nvSpPr>
        <p:spPr>
          <a:xfrm>
            <a:off x="3429000" y="2606040"/>
            <a:ext cx="8138160" cy="685800"/>
          </a:xfrm>
          <a:prstGeom prst="rect">
            <a:avLst/>
          </a:prstGeom>
          <a:noFill/>
          <a:ln/>
        </p:spPr>
        <p:txBody>
          <a:bodyPr wrap="square" lIns="0" tIns="0" rIns="0" bIns="0" rtlCol="0" anchor="t"/>
          <a:lstStyle/>
          <a:p>
            <a:pPr indent="0" marL="0">
              <a:buNone/>
            </a:pPr>
            <a:r>
              <a:rPr lang="en-US" sz="1700" i="1" dirty="0">
                <a:solidFill>
                  <a:schemeClr val="tx1"/>
                </a:solidFill>
              </a:rPr>
              <a:t>“I build AI systems that have to work on real, messy data, and I measure where they fail.”</a:t>
            </a:r>
            <a:endParaRPr lang="en-US" sz="1700" dirty="0"/>
          </a:p>
        </p:txBody>
      </p:sp>
      <p:sp>
        <p:nvSpPr>
          <p:cNvPr id="8" name="Highlight 1 dot"/>
          <p:cNvSpPr/>
          <p:nvPr/>
        </p:nvSpPr>
        <p:spPr>
          <a:xfrm>
            <a:off x="3429000" y="3511296"/>
            <a:ext cx="292608" cy="292608"/>
          </a:xfrm>
          <a:prstGeom prst="ellipse">
            <a:avLst/>
          </a:prstGeom>
          <a:solidFill>
            <a:schemeClr val="accent1"/>
          </a:solidFill>
          <a:ln w="12700">
            <a:solidFill>
              <a:schemeClr val="accent1"/>
            </a:solidFill>
            <a:prstDash val="solid"/>
          </a:ln>
        </p:spPr>
      </p:sp>
      <p:sp>
        <p:nvSpPr>
          <p:cNvPr id="9" name="Highlight 1"/>
          <p:cNvSpPr txBox="1"/>
          <p:nvPr/>
        </p:nvSpPr>
        <p:spPr>
          <a:xfrm>
            <a:off x="3931920" y="3474720"/>
            <a:ext cx="7635240" cy="411480"/>
          </a:xfrm>
          <a:prstGeom prst="rect">
            <a:avLst/>
          </a:prstGeom>
          <a:noFill/>
          <a:ln/>
        </p:spPr>
        <p:txBody>
          <a:bodyPr wrap="square" lIns="0" tIns="0" rIns="0" bIns="0" rtlCol="0" anchor="t"/>
          <a:lstStyle/>
          <a:p>
            <a:pPr indent="0" marL="0">
              <a:buNone/>
            </a:pPr>
            <a:r>
              <a:rPr lang="en-US" sz="1500" dirty="0">
                <a:solidFill>
                  <a:schemeClr val="tx1"/>
                </a:solidFill>
              </a:rPr>
              <a:t>1st place, AI for Connectivity Hackathon 2025</a:t>
            </a:r>
            <a:endParaRPr lang="en-US" sz="1500" dirty="0"/>
          </a:p>
        </p:txBody>
      </p:sp>
      <p:sp>
        <p:nvSpPr>
          <p:cNvPr id="10" name="Highlight 2 dot"/>
          <p:cNvSpPr/>
          <p:nvPr/>
        </p:nvSpPr>
        <p:spPr>
          <a:xfrm>
            <a:off x="3429000" y="4014216"/>
            <a:ext cx="292608" cy="292608"/>
          </a:xfrm>
          <a:prstGeom prst="ellipse">
            <a:avLst/>
          </a:prstGeom>
          <a:solidFill>
            <a:schemeClr val="accent1"/>
          </a:solidFill>
          <a:ln w="12700">
            <a:solidFill>
              <a:schemeClr val="accent1"/>
            </a:solidFill>
            <a:prstDash val="solid"/>
          </a:ln>
        </p:spPr>
      </p:sp>
      <p:sp>
        <p:nvSpPr>
          <p:cNvPr id="11" name="Highlight 2"/>
          <p:cNvSpPr txBox="1"/>
          <p:nvPr/>
        </p:nvSpPr>
        <p:spPr>
          <a:xfrm>
            <a:off x="3931920" y="3977640"/>
            <a:ext cx="7635240" cy="411480"/>
          </a:xfrm>
          <a:prstGeom prst="rect">
            <a:avLst/>
          </a:prstGeom>
          <a:noFill/>
          <a:ln/>
        </p:spPr>
        <p:txBody>
          <a:bodyPr wrap="square" lIns="0" tIns="0" rIns="0" bIns="0" rtlCol="0" anchor="t"/>
          <a:lstStyle/>
          <a:p>
            <a:pPr indent="0" marL="0">
              <a:buNone/>
            </a:pPr>
            <a:r>
              <a:rPr lang="en-US" sz="1500" dirty="0">
                <a:solidFill>
                  <a:schemeClr val="tx1"/>
                </a:solidFill>
              </a:rPr>
              <a:t>Global Nominee, NASA Space Apps 2024</a:t>
            </a:r>
            <a:endParaRPr lang="en-US" sz="1500" dirty="0"/>
          </a:p>
        </p:txBody>
      </p:sp>
      <p:sp>
        <p:nvSpPr>
          <p:cNvPr id="12" name="Highlight 3 dot"/>
          <p:cNvSpPr/>
          <p:nvPr/>
        </p:nvSpPr>
        <p:spPr>
          <a:xfrm>
            <a:off x="3429000" y="4517136"/>
            <a:ext cx="292608" cy="292608"/>
          </a:xfrm>
          <a:prstGeom prst="ellipse">
            <a:avLst/>
          </a:prstGeom>
          <a:solidFill>
            <a:schemeClr val="accent1"/>
          </a:solidFill>
          <a:ln w="12700">
            <a:solidFill>
              <a:schemeClr val="accent1"/>
            </a:solidFill>
            <a:prstDash val="solid"/>
          </a:ln>
        </p:spPr>
      </p:sp>
      <p:sp>
        <p:nvSpPr>
          <p:cNvPr id="13" name="Highlight 3"/>
          <p:cNvSpPr txBox="1"/>
          <p:nvPr/>
        </p:nvSpPr>
        <p:spPr>
          <a:xfrm>
            <a:off x="3931920" y="4480560"/>
            <a:ext cx="7635240" cy="411480"/>
          </a:xfrm>
          <a:prstGeom prst="rect">
            <a:avLst/>
          </a:prstGeom>
          <a:noFill/>
          <a:ln/>
        </p:spPr>
        <p:txBody>
          <a:bodyPr wrap="square" lIns="0" tIns="0" rIns="0" bIns="0" rtlCol="0" anchor="t"/>
          <a:lstStyle/>
          <a:p>
            <a:pPr indent="0" marL="0">
              <a:buNone/>
            </a:pPr>
            <a:r>
              <a:rPr lang="en-US" sz="1500" dirty="0">
                <a:solidFill>
                  <a:schemeClr val="tx1"/>
                </a:solidFill>
              </a:rPr>
              <a:t>All 9 puzzles solved, Harvard CS50x Puzzle Day 2025</a:t>
            </a:r>
            <a:endParaRPr lang="en-US" sz="1500" dirty="0"/>
          </a:p>
        </p:txBody>
      </p:sp>
      <p:sp>
        <p:nvSpPr>
          <p:cNvPr id="14" name="Links"/>
          <p:cNvSpPr txBox="1"/>
          <p:nvPr/>
        </p:nvSpPr>
        <p:spPr>
          <a:xfrm>
            <a:off x="3429000" y="5120640"/>
            <a:ext cx="8138160" cy="365760"/>
          </a:xfrm>
          <a:prstGeom prst="rect">
            <a:avLst/>
          </a:prstGeom>
          <a:noFill/>
          <a:ln/>
        </p:spPr>
        <p:txBody>
          <a:bodyPr wrap="square" lIns="0" tIns="0" rIns="0" bIns="0" rtlCol="0" anchor="t"/>
          <a:lstStyle/>
          <a:p>
            <a:pPr indent="0" marL="0">
              <a:buNone/>
            </a:pPr>
            <a:r>
              <a:rPr lang="en-US" sz="1500" u="sng" dirty="0">
                <a:solidFill>
                  <a:schemeClr val="accent3"/>
                </a:solidFill>
                <a:hlinkClick r:id="rId2" invalidUrl="" action="" tgtFrame="" tooltip="" history="1" highlightClick="0" endSnd="0">
                  <a:extLst>
                    <a:ext uri="{A12FA001-AC4F-418D-AE19-62706E023703}">
                      <ahyp:hlinkClr xmlns:ahyp="http://schemas.microsoft.com/office/drawing/2018/hyperlinkcolor" val="tx"/>
                    </a:ext>
                  </a:extLst>
                </a:hlinkClick>
              </a:rPr>
              <a:t>linkedin.com/in/sohaib-aamir</a:t>
            </a:r>
            <a:pPr indent="0" marL="0">
              <a:buNone/>
            </a:pPr>
            <a:r>
              <a:rPr lang="en-US" sz="1500" dirty="0">
                <a:solidFill>
                  <a:schemeClr val="tx2"/>
                </a:solidFill>
              </a:rPr>
              <a:t>   ·   </a:t>
            </a:r>
            <a:pPr indent="0" marL="0">
              <a:buNone/>
            </a:pPr>
            <a:r>
              <a:rPr lang="en-US" sz="1500" u="sng" dirty="0">
                <a:solidFill>
                  <a:schemeClr val="accent3"/>
                </a:solidFill>
                <a:hlinkClick r:id="rId3" invalidUrl="" action="" tgtFrame="" tooltip="" history="1" highlightClick="0" endSnd="0">
                  <a:extLst>
                    <a:ext uri="{A12FA001-AC4F-418D-AE19-62706E023703}">
                      <ahyp:hlinkClr xmlns:ahyp="http://schemas.microsoft.com/office/drawing/2018/hyperlinkcolor" val="tx"/>
                    </a:ext>
                  </a:extLst>
                </a:hlinkClick>
              </a:rPr>
              <a:t>github.com/SohaibAamir28/stockout-why</a:t>
            </a:r>
            <a:endParaRPr lang="en-US" sz="1500" dirty="0"/>
          </a:p>
        </p:txBody>
      </p:sp>
      <p:sp>
        <p:nvSpPr>
          <p:cNvPr id="15" name="Closing line"/>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2000" b="1" dirty="0">
                <a:solidFill>
                  <a:schemeClr val="accent1"/>
                </a:solidFill>
              </a:rPr>
              <a:t>Stockout Why: the agent that can explain why.</a:t>
            </a:r>
            <a:endParaRPr lang="en-US" sz="2000" dirty="0"/>
          </a:p>
        </p:txBody>
      </p:sp>
      <p:sp>
        <p:nvSpPr>
          <p:cNvPr id="25" name="Slide Number Placeholder 0"/>
          <p:cNvSpPr>
            <a:spLocks noGrp="1"/>
          </p:cNvSpPr>
          <p:nvPr>
            <p:ph type="sldNum" sz="quarter" idx="4294967295"/>
          </p:nvPr>
        </p:nvSpPr>
        <p:spPr>
          <a:xfrm>
            <a:off x="11155680" y="638251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Stockout Why">
  <a:themeElements>
    <a:clrScheme name="Stockout Why">
      <a:dk1>
        <a:srgbClr val="F1F5F9"/>
      </a:dk1>
      <a:lt1>
        <a:srgbClr val="0B1220"/>
      </a:lt1>
      <a:dk2>
        <a:srgbClr val="94A3B8"/>
      </a:dk2>
      <a:lt2>
        <a:srgbClr val="18223A"/>
      </a:lt2>
      <a:accent1>
        <a:srgbClr val="F6B446"/>
      </a:accent1>
      <a:accent2>
        <a:srgbClr val="40D6C4"/>
      </a:accent2>
      <a:accent3>
        <a:srgbClr val="78B0FF"/>
      </a:accent3>
      <a:accent4>
        <a:srgbClr val="BEA0FF"/>
      </a:accent4>
      <a:accent5>
        <a:srgbClr val="76B900"/>
      </a:accent5>
      <a:accent6>
        <a:srgbClr val="F67878"/>
      </a:accent6>
      <a:hlink>
        <a:srgbClr val="78B0FF"/>
      </a:hlink>
      <a:folHlink>
        <a:srgbClr val="BEA0FF"/>
      </a:folHlink>
    </a:clrScheme>
    <a:fontScheme name="Stockout Wh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Stockout Why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Stockout Why</dc:title>
  <dc:subject>Open Agent Hackathon 2026, Track 2: The Agent That Can Explain Why</dc:subject>
  <dc:creator>Sohaib Aamir</dc:creator>
  <cp:lastModifiedBy>Sohaib Aamir</cp:lastModifiedBy>
  <cp:revision>1</cp:revision>
  <dcterms:created xsi:type="dcterms:W3CDTF">2026-10-28T03:23:03Z</dcterms:created>
  <dcterms:modified xsi:type="dcterms:W3CDTF">2026-10-28T03:23:03Z</dcterms:modified>
</cp:coreProperties>
</file>